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League Spartan" charset="1" panose="00000800000000000000"/>
      <p:regular r:id="rId29"/>
    </p:embeddedFont>
    <p:embeddedFont>
      <p:font typeface="Open Sans Bold" charset="1" panose="020B0806030504020204"/>
      <p:regular r:id="rId30"/>
    </p:embeddedFont>
    <p:embeddedFont>
      <p:font typeface="Shrikhand" charset="1" panose="02000000000000000000"/>
      <p:regular r:id="rId31"/>
    </p:embeddedFont>
    <p:embeddedFont>
      <p:font typeface="Open Sauce" charset="1" panose="00000500000000000000"/>
      <p:regular r:id="rId32"/>
    </p:embeddedFont>
    <p:embeddedFont>
      <p:font typeface="Montserrat Bold" charset="1" panose="00000800000000000000"/>
      <p:regular r:id="rId33"/>
    </p:embeddedFont>
    <p:embeddedFont>
      <p:font typeface="Montserrat" charset="1" panose="00000500000000000000"/>
      <p:regular r:id="rId34"/>
    </p:embeddedFont>
    <p:embeddedFont>
      <p:font typeface="Open Sauce Bold" charset="1" panose="000008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12" Target="../media/image29.png" Type="http://schemas.openxmlformats.org/officeDocument/2006/relationships/image"/><Relationship Id="rId13" Target="../media/image30.png" Type="http://schemas.openxmlformats.org/officeDocument/2006/relationships/image"/><Relationship Id="rId14" Target="../media/image31.png" Type="http://schemas.openxmlformats.org/officeDocument/2006/relationships/image"/><Relationship Id="rId15" Target="../media/image32.png" Type="http://schemas.openxmlformats.org/officeDocument/2006/relationships/image"/><Relationship Id="rId16" Target="../media/image33.png" Type="http://schemas.openxmlformats.org/officeDocument/2006/relationships/image"/><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png" Type="http://schemas.openxmlformats.org/officeDocument/2006/relationships/image"/><Relationship Id="rId2" Target="../media/image35.png" Type="http://schemas.openxmlformats.org/officeDocument/2006/relationships/image"/><Relationship Id="rId3" Target="../media/image3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 Id="rId7" Target="../media/image52.png" Type="http://schemas.openxmlformats.org/officeDocument/2006/relationships/image"/><Relationship Id="rId8" Target="../media/image5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normsplash.com/Samples/ISO/186791471/ISO-12100-2010-en.pdf"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https://www.gob.pe/institucion/igp/noticias/667110-columna-de-opinion-igp-geometria-de-la-placa-de-nazca-en-peru" TargetMode="External" Type="http://schemas.openxmlformats.org/officeDocument/2006/relationships/hyperlink"/><Relationship Id="rId8" Target="https://www.grade.org.pe/wp-content/uploads/GRADEADI_AUTOCONSTRUCCION.pdf" TargetMode="External" Type="http://schemas.openxmlformats.org/officeDocument/2006/relationships/hyperlink"/><Relationship Id="rId9" Target="https://doi.org/10.3390/rs15092400"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https://www.iso.org/standard/65246.html" TargetMode="External" Type="http://schemas.openxmlformats.org/officeDocument/2006/relationships/hyperlink"/><Relationship Id="rId8" Target="https://cdn.www.gob.pe/uploads/document/file/571762/Ley_N__29783.pdf"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3606" y="0"/>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27773" y="4163622"/>
            <a:ext cx="110236" cy="2818996"/>
            <a:chOff x="0" y="0"/>
            <a:chExt cx="26312" cy="672855"/>
          </a:xfrm>
        </p:grpSpPr>
        <p:sp>
          <p:nvSpPr>
            <p:cNvPr name="Freeform 9" id="9"/>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0" id="10"/>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2857101" y="-2238638"/>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1222763" y="7427139"/>
            <a:ext cx="3710844" cy="2514286"/>
          </a:xfrm>
          <a:custGeom>
            <a:avLst/>
            <a:gdLst/>
            <a:ahLst/>
            <a:cxnLst/>
            <a:rect r="r" b="b" t="t" l="l"/>
            <a:pathLst>
              <a:path h="2514286" w="3710844">
                <a:moveTo>
                  <a:pt x="0" y="0"/>
                </a:moveTo>
                <a:lnTo>
                  <a:pt x="3710843" y="0"/>
                </a:lnTo>
                <a:lnTo>
                  <a:pt x="3710843" y="2514286"/>
                </a:lnTo>
                <a:lnTo>
                  <a:pt x="0" y="2514286"/>
                </a:lnTo>
                <a:lnTo>
                  <a:pt x="0" y="0"/>
                </a:lnTo>
                <a:close/>
              </a:path>
            </a:pathLst>
          </a:custGeom>
          <a:blipFill>
            <a:blip r:embed="rId6"/>
            <a:stretch>
              <a:fillRect l="0" t="0" r="0" b="0"/>
            </a:stretch>
          </a:blipFill>
        </p:spPr>
      </p:sp>
      <p:sp>
        <p:nvSpPr>
          <p:cNvPr name="TextBox 14" id="14"/>
          <p:cNvSpPr txBox="true"/>
          <p:nvPr/>
        </p:nvSpPr>
        <p:spPr>
          <a:xfrm rot="0">
            <a:off x="3109848" y="1775376"/>
            <a:ext cx="10256960" cy="1695450"/>
          </a:xfrm>
          <a:prstGeom prst="rect">
            <a:avLst/>
          </a:prstGeom>
        </p:spPr>
        <p:txBody>
          <a:bodyPr anchor="t" rtlCol="false" tIns="0" lIns="0" bIns="0" rIns="0">
            <a:spAutoFit/>
          </a:bodyPr>
          <a:lstStyle/>
          <a:p>
            <a:pPr algn="l">
              <a:lnSpc>
                <a:spcPts val="13414"/>
              </a:lnSpc>
            </a:pPr>
            <a:r>
              <a:rPr lang="en-US" sz="11178">
                <a:solidFill>
                  <a:srgbClr val="000000"/>
                </a:solidFill>
                <a:latin typeface="League Spartan"/>
                <a:ea typeface="League Spartan"/>
                <a:cs typeface="League Spartan"/>
                <a:sym typeface="League Spartan"/>
              </a:rPr>
              <a:t>CRACKSCAN</a:t>
            </a:r>
          </a:p>
        </p:txBody>
      </p:sp>
      <p:sp>
        <p:nvSpPr>
          <p:cNvPr name="TextBox 15" id="15"/>
          <p:cNvSpPr txBox="true"/>
          <p:nvPr/>
        </p:nvSpPr>
        <p:spPr>
          <a:xfrm rot="0">
            <a:off x="4028481" y="31099"/>
            <a:ext cx="6460853" cy="683925"/>
          </a:xfrm>
          <a:prstGeom prst="rect">
            <a:avLst/>
          </a:prstGeom>
        </p:spPr>
        <p:txBody>
          <a:bodyPr anchor="t" rtlCol="false" tIns="0" lIns="0" bIns="0" rIns="0">
            <a:spAutoFit/>
          </a:bodyPr>
          <a:lstStyle/>
          <a:p>
            <a:pPr algn="ctr">
              <a:lnSpc>
                <a:spcPts val="2728"/>
              </a:lnSpc>
            </a:pPr>
            <a:r>
              <a:rPr lang="en-US" sz="1948" b="true">
                <a:solidFill>
                  <a:srgbClr val="1F3864"/>
                </a:solidFill>
                <a:latin typeface="Open Sans Bold"/>
                <a:ea typeface="Open Sans Bold"/>
                <a:cs typeface="Open Sans Bold"/>
                <a:sym typeface="Open Sans Bold"/>
              </a:rPr>
              <a:t>UNIVERSID</a:t>
            </a:r>
            <a:r>
              <a:rPr lang="en-US" b="true" sz="1948">
                <a:solidFill>
                  <a:srgbClr val="1F3864"/>
                </a:solidFill>
                <a:latin typeface="Open Sans Bold"/>
                <a:ea typeface="Open Sans Bold"/>
                <a:cs typeface="Open Sans Bold"/>
                <a:sym typeface="Open Sans Bold"/>
              </a:rPr>
              <a:t>AD PERUANA CAYETANO HEREDIA</a:t>
            </a:r>
          </a:p>
          <a:p>
            <a:pPr algn="ctr">
              <a:lnSpc>
                <a:spcPts val="2728"/>
              </a:lnSpc>
            </a:pPr>
            <a:r>
              <a:rPr lang="en-US" b="true" sz="1948">
                <a:solidFill>
                  <a:srgbClr val="1F3864"/>
                </a:solidFill>
                <a:latin typeface="Open Sans Bold"/>
                <a:ea typeface="Open Sans Bold"/>
                <a:cs typeface="Open Sans Bold"/>
                <a:sym typeface="Open Sans Bold"/>
              </a:rPr>
              <a:t> Ingeniería Ambiental / Proyecto Integrador 2026-2</a:t>
            </a:r>
          </a:p>
        </p:txBody>
      </p:sp>
      <p:sp>
        <p:nvSpPr>
          <p:cNvPr name="TextBox 16" id="16"/>
          <p:cNvSpPr txBox="true"/>
          <p:nvPr/>
        </p:nvSpPr>
        <p:spPr>
          <a:xfrm rot="0">
            <a:off x="2208413" y="3804201"/>
            <a:ext cx="12059831" cy="1768919"/>
          </a:xfrm>
          <a:prstGeom prst="rect">
            <a:avLst/>
          </a:prstGeom>
        </p:spPr>
        <p:txBody>
          <a:bodyPr anchor="t" rtlCol="false" tIns="0" lIns="0" bIns="0" rIns="0">
            <a:spAutoFit/>
          </a:bodyPr>
          <a:lstStyle/>
          <a:p>
            <a:pPr algn="ctr">
              <a:lnSpc>
                <a:spcPts val="4742"/>
              </a:lnSpc>
            </a:pPr>
            <a:r>
              <a:rPr lang="en-US" sz="3387">
                <a:solidFill>
                  <a:srgbClr val="1F3864"/>
                </a:solidFill>
                <a:latin typeface="Shrikhand"/>
                <a:ea typeface="Shrikhand"/>
                <a:cs typeface="Shrikhand"/>
                <a:sym typeface="Shrikhand"/>
              </a:rPr>
              <a:t>Sistema inteligente portátil para monitoreo y clasificación del riesgo asociado a grietas en viviendas de concreto</a:t>
            </a:r>
          </a:p>
        </p:txBody>
      </p:sp>
      <p:sp>
        <p:nvSpPr>
          <p:cNvPr name="TextBox 17" id="17"/>
          <p:cNvSpPr txBox="true"/>
          <p:nvPr/>
        </p:nvSpPr>
        <p:spPr>
          <a:xfrm rot="0">
            <a:off x="1905412" y="6133273"/>
            <a:ext cx="8215612" cy="3125027"/>
          </a:xfrm>
          <a:prstGeom prst="rect">
            <a:avLst/>
          </a:prstGeom>
        </p:spPr>
        <p:txBody>
          <a:bodyPr anchor="t" rtlCol="false" tIns="0" lIns="0" bIns="0" rIns="0">
            <a:spAutoFit/>
          </a:bodyPr>
          <a:lstStyle/>
          <a:p>
            <a:pPr algn="l">
              <a:lnSpc>
                <a:spcPts val="4154"/>
              </a:lnSpc>
            </a:pPr>
            <a:r>
              <a:rPr lang="en-US" sz="2967" spc="148">
                <a:solidFill>
                  <a:srgbClr val="1F3864"/>
                </a:solidFill>
                <a:latin typeface="League Spartan"/>
                <a:ea typeface="League Spartan"/>
                <a:cs typeface="League Spartan"/>
                <a:sym typeface="League Spartan"/>
              </a:rPr>
              <a:t>Proyecto Integrador — Equipo 06</a:t>
            </a:r>
          </a:p>
          <a:p>
            <a:pPr algn="l">
              <a:lnSpc>
                <a:spcPts val="4154"/>
              </a:lnSpc>
            </a:pPr>
            <a:r>
              <a:rPr lang="en-US" sz="2967" spc="148">
                <a:solidFill>
                  <a:srgbClr val="1F3864"/>
                </a:solidFill>
                <a:latin typeface="Open Sauce"/>
                <a:ea typeface="Open Sauce"/>
                <a:cs typeface="Open Sauce"/>
                <a:sym typeface="Open Sauce"/>
              </a:rPr>
              <a:t>Beleva</a:t>
            </a:r>
            <a:r>
              <a:rPr lang="en-US" sz="2967" spc="148">
                <a:solidFill>
                  <a:srgbClr val="1F3864"/>
                </a:solidFill>
                <a:latin typeface="Open Sauce"/>
                <a:ea typeface="Open Sauce"/>
                <a:cs typeface="Open Sauce"/>
                <a:sym typeface="Open Sauce"/>
              </a:rPr>
              <a:t>n Amaro, Bertha Dominik</a:t>
            </a:r>
          </a:p>
          <a:p>
            <a:pPr algn="l">
              <a:lnSpc>
                <a:spcPts val="4154"/>
              </a:lnSpc>
            </a:pPr>
            <a:r>
              <a:rPr lang="en-US" sz="2967" spc="148">
                <a:solidFill>
                  <a:srgbClr val="1F3864"/>
                </a:solidFill>
                <a:latin typeface="Open Sauce"/>
                <a:ea typeface="Open Sauce"/>
                <a:cs typeface="Open Sauce"/>
                <a:sym typeface="Open Sauce"/>
              </a:rPr>
              <a:t> Huamán Bernal, Mónica Cristina</a:t>
            </a:r>
          </a:p>
          <a:p>
            <a:pPr algn="l">
              <a:lnSpc>
                <a:spcPts val="4154"/>
              </a:lnSpc>
            </a:pPr>
            <a:r>
              <a:rPr lang="en-US" sz="2967" spc="148">
                <a:solidFill>
                  <a:srgbClr val="1F3864"/>
                </a:solidFill>
                <a:latin typeface="Open Sauce"/>
                <a:ea typeface="Open Sauce"/>
                <a:cs typeface="Open Sauce"/>
                <a:sym typeface="Open Sauce"/>
              </a:rPr>
              <a:t> Romero Meza, Piero Cemei</a:t>
            </a:r>
          </a:p>
          <a:p>
            <a:pPr algn="l">
              <a:lnSpc>
                <a:spcPts val="4154"/>
              </a:lnSpc>
            </a:pPr>
            <a:r>
              <a:rPr lang="en-US" sz="2967" spc="148">
                <a:solidFill>
                  <a:srgbClr val="1F3864"/>
                </a:solidFill>
                <a:latin typeface="Open Sauce"/>
                <a:ea typeface="Open Sauce"/>
                <a:cs typeface="Open Sauce"/>
                <a:sym typeface="Open Sauce"/>
              </a:rPr>
              <a:t> Sayago Morán, Josue Enmanuel</a:t>
            </a:r>
          </a:p>
          <a:p>
            <a:pPr algn="l">
              <a:lnSpc>
                <a:spcPts val="4154"/>
              </a:lnSpc>
            </a:pPr>
            <a:r>
              <a:rPr lang="en-US" sz="2967" spc="148">
                <a:solidFill>
                  <a:srgbClr val="1F3864"/>
                </a:solidFill>
                <a:latin typeface="Open Sauce"/>
                <a:ea typeface="Open Sauce"/>
                <a:cs typeface="Open Sauce"/>
                <a:sym typeface="Open Sauce"/>
              </a:rPr>
              <a:t> Murga Saavedra, Diego Alessandre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30704" y="-558218"/>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2142677" y="-308512"/>
            <a:ext cx="6145323" cy="10607668"/>
            <a:chOff x="0" y="0"/>
            <a:chExt cx="1618521" cy="2793789"/>
          </a:xfrm>
        </p:grpSpPr>
        <p:sp>
          <p:nvSpPr>
            <p:cNvPr name="Freeform 6" id="6"/>
            <p:cNvSpPr/>
            <p:nvPr/>
          </p:nvSpPr>
          <p:spPr>
            <a:xfrm flipH="false" flipV="false" rot="0">
              <a:off x="0" y="0"/>
              <a:ext cx="1618521" cy="2793789"/>
            </a:xfrm>
            <a:custGeom>
              <a:avLst/>
              <a:gdLst/>
              <a:ahLst/>
              <a:cxnLst/>
              <a:rect r="r" b="b" t="t" l="l"/>
              <a:pathLst>
                <a:path h="2793789" w="1618521">
                  <a:moveTo>
                    <a:pt x="0" y="0"/>
                  </a:moveTo>
                  <a:lnTo>
                    <a:pt x="1618521" y="0"/>
                  </a:lnTo>
                  <a:lnTo>
                    <a:pt x="1618521" y="2793789"/>
                  </a:lnTo>
                  <a:lnTo>
                    <a:pt x="0" y="2793789"/>
                  </a:lnTo>
                  <a:close/>
                </a:path>
              </a:pathLst>
            </a:custGeom>
            <a:solidFill>
              <a:srgbClr val="1F3864"/>
            </a:solidFill>
          </p:spPr>
        </p:sp>
        <p:sp>
          <p:nvSpPr>
            <p:cNvPr name="TextBox 7" id="7"/>
            <p:cNvSpPr txBox="true"/>
            <p:nvPr/>
          </p:nvSpPr>
          <p:spPr>
            <a:xfrm>
              <a:off x="0" y="-19050"/>
              <a:ext cx="1618521" cy="2812839"/>
            </a:xfrm>
            <a:prstGeom prst="rect">
              <a:avLst/>
            </a:prstGeom>
          </p:spPr>
          <p:txBody>
            <a:bodyPr anchor="ctr" rtlCol="false" tIns="50800" lIns="50800" bIns="50800" rIns="50800"/>
            <a:lstStyle/>
            <a:p>
              <a:pPr algn="ctr">
                <a:lnSpc>
                  <a:spcPts val="2859"/>
                </a:lnSpc>
              </a:pPr>
            </a:p>
          </p:txBody>
        </p:sp>
      </p:grpSp>
      <p:sp>
        <p:nvSpPr>
          <p:cNvPr name="TextBox 8" id="8"/>
          <p:cNvSpPr txBox="true"/>
          <p:nvPr/>
        </p:nvSpPr>
        <p:spPr>
          <a:xfrm rot="0">
            <a:off x="4024659" y="5710105"/>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04</a:t>
            </a:r>
          </a:p>
        </p:txBody>
      </p:sp>
      <p:sp>
        <p:nvSpPr>
          <p:cNvPr name="TextBox 9" id="9"/>
          <p:cNvSpPr txBox="true"/>
          <p:nvPr/>
        </p:nvSpPr>
        <p:spPr>
          <a:xfrm rot="0">
            <a:off x="4044260" y="6502482"/>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05</a:t>
            </a:r>
          </a:p>
        </p:txBody>
      </p:sp>
      <p:sp>
        <p:nvSpPr>
          <p:cNvPr name="TextBox 10" id="10"/>
          <p:cNvSpPr txBox="true"/>
          <p:nvPr/>
        </p:nvSpPr>
        <p:spPr>
          <a:xfrm rot="0">
            <a:off x="3437864" y="7187516"/>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07</a:t>
            </a:r>
          </a:p>
        </p:txBody>
      </p:sp>
      <p:sp>
        <p:nvSpPr>
          <p:cNvPr name="Freeform 11" id="11"/>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613204" y="5389236"/>
            <a:ext cx="11558080" cy="1147167"/>
          </a:xfrm>
          <a:prstGeom prst="rect">
            <a:avLst/>
          </a:prstGeom>
        </p:spPr>
        <p:txBody>
          <a:bodyPr anchor="t" rtlCol="false" tIns="0" lIns="0" bIns="0" rIns="0">
            <a:spAutoFit/>
          </a:bodyPr>
          <a:lstStyle/>
          <a:p>
            <a:pPr algn="l">
              <a:lnSpc>
                <a:spcPts val="3026"/>
              </a:lnSpc>
            </a:pPr>
            <a:r>
              <a:rPr lang="en-US" sz="2193" spc="214">
                <a:solidFill>
                  <a:srgbClr val="231F20"/>
                </a:solidFill>
                <a:latin typeface="League Spartan"/>
                <a:ea typeface="League Spartan"/>
                <a:cs typeface="League Spartan"/>
                <a:sym typeface="League Spartan"/>
              </a:rPr>
              <a:t>Se necesita una herramienta que permita integrar las características de la grieta con el contexto de riesgo sísmico de su ubicación para apoyar una decisión de inspección.</a:t>
            </a:r>
          </a:p>
        </p:txBody>
      </p:sp>
      <p:grpSp>
        <p:nvGrpSpPr>
          <p:cNvPr name="Group 13" id="13"/>
          <p:cNvGrpSpPr/>
          <p:nvPr/>
        </p:nvGrpSpPr>
        <p:grpSpPr>
          <a:xfrm rot="0">
            <a:off x="7742480" y="6658892"/>
            <a:ext cx="47625" cy="2933859"/>
            <a:chOff x="0" y="0"/>
            <a:chExt cx="12543" cy="772704"/>
          </a:xfrm>
        </p:grpSpPr>
        <p:sp>
          <p:nvSpPr>
            <p:cNvPr name="Freeform 14" id="14"/>
            <p:cNvSpPr/>
            <p:nvPr/>
          </p:nvSpPr>
          <p:spPr>
            <a:xfrm flipH="false" flipV="false" rot="0">
              <a:off x="0" y="0"/>
              <a:ext cx="12543" cy="772704"/>
            </a:xfrm>
            <a:custGeom>
              <a:avLst/>
              <a:gdLst/>
              <a:ahLst/>
              <a:cxnLst/>
              <a:rect r="r" b="b" t="t" l="l"/>
              <a:pathLst>
                <a:path h="772704" w="12543">
                  <a:moveTo>
                    <a:pt x="0" y="0"/>
                  </a:moveTo>
                  <a:lnTo>
                    <a:pt x="12543" y="0"/>
                  </a:lnTo>
                  <a:lnTo>
                    <a:pt x="12543" y="772704"/>
                  </a:lnTo>
                  <a:lnTo>
                    <a:pt x="0" y="772704"/>
                  </a:lnTo>
                  <a:close/>
                </a:path>
              </a:pathLst>
            </a:custGeom>
            <a:solidFill>
              <a:srgbClr val="2D3C55"/>
            </a:solidFill>
          </p:spPr>
        </p:sp>
        <p:sp>
          <p:nvSpPr>
            <p:cNvPr name="TextBox 15" id="15"/>
            <p:cNvSpPr txBox="true"/>
            <p:nvPr/>
          </p:nvSpPr>
          <p:spPr>
            <a:xfrm>
              <a:off x="0" y="-19050"/>
              <a:ext cx="12543" cy="791754"/>
            </a:xfrm>
            <a:prstGeom prst="rect">
              <a:avLst/>
            </a:prstGeom>
          </p:spPr>
          <p:txBody>
            <a:bodyPr anchor="ctr" rtlCol="false" tIns="50800" lIns="50800" bIns="50800" rIns="50800"/>
            <a:lstStyle/>
            <a:p>
              <a:pPr algn="ctr">
                <a:lnSpc>
                  <a:spcPts val="2859"/>
                </a:lnSpc>
              </a:pPr>
            </a:p>
          </p:txBody>
        </p:sp>
      </p:grpSp>
      <p:grpSp>
        <p:nvGrpSpPr>
          <p:cNvPr name="Group 16" id="16"/>
          <p:cNvGrpSpPr/>
          <p:nvPr/>
        </p:nvGrpSpPr>
        <p:grpSpPr>
          <a:xfrm rot="0">
            <a:off x="4044260" y="6658892"/>
            <a:ext cx="47625" cy="2933859"/>
            <a:chOff x="0" y="0"/>
            <a:chExt cx="12543" cy="772704"/>
          </a:xfrm>
        </p:grpSpPr>
        <p:sp>
          <p:nvSpPr>
            <p:cNvPr name="Freeform 17" id="17"/>
            <p:cNvSpPr/>
            <p:nvPr/>
          </p:nvSpPr>
          <p:spPr>
            <a:xfrm flipH="false" flipV="false" rot="0">
              <a:off x="0" y="0"/>
              <a:ext cx="12543" cy="772704"/>
            </a:xfrm>
            <a:custGeom>
              <a:avLst/>
              <a:gdLst/>
              <a:ahLst/>
              <a:cxnLst/>
              <a:rect r="r" b="b" t="t" l="l"/>
              <a:pathLst>
                <a:path h="772704" w="12543">
                  <a:moveTo>
                    <a:pt x="0" y="0"/>
                  </a:moveTo>
                  <a:lnTo>
                    <a:pt x="12543" y="0"/>
                  </a:lnTo>
                  <a:lnTo>
                    <a:pt x="12543" y="772704"/>
                  </a:lnTo>
                  <a:lnTo>
                    <a:pt x="0" y="772704"/>
                  </a:lnTo>
                  <a:close/>
                </a:path>
              </a:pathLst>
            </a:custGeom>
            <a:solidFill>
              <a:srgbClr val="2A3952"/>
            </a:solidFill>
          </p:spPr>
        </p:sp>
        <p:sp>
          <p:nvSpPr>
            <p:cNvPr name="TextBox 18" id="18"/>
            <p:cNvSpPr txBox="true"/>
            <p:nvPr/>
          </p:nvSpPr>
          <p:spPr>
            <a:xfrm>
              <a:off x="0" y="-19050"/>
              <a:ext cx="12543" cy="791754"/>
            </a:xfrm>
            <a:prstGeom prst="rect">
              <a:avLst/>
            </a:prstGeom>
          </p:spPr>
          <p:txBody>
            <a:bodyPr anchor="ctr" rtlCol="false" tIns="50800" lIns="50800" bIns="50800" rIns="50800"/>
            <a:lstStyle/>
            <a:p>
              <a:pPr algn="ctr">
                <a:lnSpc>
                  <a:spcPts val="2859"/>
                </a:lnSpc>
              </a:pPr>
            </a:p>
          </p:txBody>
        </p:sp>
      </p:grpSp>
      <p:sp>
        <p:nvSpPr>
          <p:cNvPr name="Freeform 19" id="19"/>
          <p:cNvSpPr/>
          <p:nvPr/>
        </p:nvSpPr>
        <p:spPr>
          <a:xfrm flipH="false" flipV="false" rot="0">
            <a:off x="12429092" y="1789595"/>
            <a:ext cx="5572493" cy="5008343"/>
          </a:xfrm>
          <a:custGeom>
            <a:avLst/>
            <a:gdLst/>
            <a:ahLst/>
            <a:cxnLst/>
            <a:rect r="r" b="b" t="t" l="l"/>
            <a:pathLst>
              <a:path h="5008343" w="5572493">
                <a:moveTo>
                  <a:pt x="0" y="0"/>
                </a:moveTo>
                <a:lnTo>
                  <a:pt x="5572493" y="0"/>
                </a:lnTo>
                <a:lnTo>
                  <a:pt x="5572493" y="5008343"/>
                </a:lnTo>
                <a:lnTo>
                  <a:pt x="0" y="5008343"/>
                </a:lnTo>
                <a:lnTo>
                  <a:pt x="0" y="0"/>
                </a:lnTo>
                <a:close/>
              </a:path>
            </a:pathLst>
          </a:custGeom>
          <a:blipFill>
            <a:blip r:embed="rId4"/>
            <a:stretch>
              <a:fillRect l="-62069" t="0" r="-9736" b="0"/>
            </a:stretch>
          </a:blipFill>
        </p:spPr>
      </p:sp>
      <p:sp>
        <p:nvSpPr>
          <p:cNvPr name="TextBox 20" id="20"/>
          <p:cNvSpPr txBox="true"/>
          <p:nvPr/>
        </p:nvSpPr>
        <p:spPr>
          <a:xfrm rot="0">
            <a:off x="565554" y="52535"/>
            <a:ext cx="11417504" cy="1366363"/>
          </a:xfrm>
          <a:prstGeom prst="rect">
            <a:avLst/>
          </a:prstGeom>
        </p:spPr>
        <p:txBody>
          <a:bodyPr anchor="t" rtlCol="false" tIns="0" lIns="0" bIns="0" rIns="0">
            <a:spAutoFit/>
          </a:bodyPr>
          <a:lstStyle/>
          <a:p>
            <a:pPr algn="l">
              <a:lnSpc>
                <a:spcPts val="5491"/>
              </a:lnSpc>
            </a:pPr>
            <a:r>
              <a:rPr lang="en-US" sz="3979" spc="389">
                <a:solidFill>
                  <a:srgbClr val="231F20"/>
                </a:solidFill>
                <a:latin typeface="League Spartan"/>
                <a:ea typeface="League Spartan"/>
                <a:cs typeface="League Spartan"/>
                <a:sym typeface="League Spartan"/>
              </a:rPr>
              <a:t>¿Por qué necesitamos mejorar la inspección de viviendas?</a:t>
            </a:r>
          </a:p>
        </p:txBody>
      </p:sp>
      <p:sp>
        <p:nvSpPr>
          <p:cNvPr name="TextBox 21" id="21"/>
          <p:cNvSpPr txBox="true"/>
          <p:nvPr/>
        </p:nvSpPr>
        <p:spPr>
          <a:xfrm rot="0">
            <a:off x="4024659" y="4031829"/>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02</a:t>
            </a:r>
          </a:p>
        </p:txBody>
      </p:sp>
      <p:sp>
        <p:nvSpPr>
          <p:cNvPr name="TextBox 22" id="22"/>
          <p:cNvSpPr txBox="true"/>
          <p:nvPr/>
        </p:nvSpPr>
        <p:spPr>
          <a:xfrm rot="0">
            <a:off x="4024659" y="4912986"/>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03</a:t>
            </a:r>
          </a:p>
        </p:txBody>
      </p:sp>
      <p:sp>
        <p:nvSpPr>
          <p:cNvPr name="TextBox 23" id="23"/>
          <p:cNvSpPr txBox="true"/>
          <p:nvPr/>
        </p:nvSpPr>
        <p:spPr>
          <a:xfrm rot="0">
            <a:off x="844940" y="1666518"/>
            <a:ext cx="6921353" cy="1276730"/>
          </a:xfrm>
          <a:prstGeom prst="rect">
            <a:avLst/>
          </a:prstGeom>
        </p:spPr>
        <p:txBody>
          <a:bodyPr anchor="t" rtlCol="false" tIns="0" lIns="0" bIns="0" rIns="0">
            <a:spAutoFit/>
          </a:bodyPr>
          <a:lstStyle/>
          <a:p>
            <a:pPr algn="l">
              <a:lnSpc>
                <a:spcPts val="3412"/>
              </a:lnSpc>
            </a:pPr>
            <a:r>
              <a:rPr lang="en-US" sz="2437" spc="121">
                <a:solidFill>
                  <a:srgbClr val="1F3864"/>
                </a:solidFill>
                <a:latin typeface="Open Sauce"/>
                <a:ea typeface="Open Sauce"/>
                <a:cs typeface="Open Sauce"/>
                <a:sym typeface="Open Sauce"/>
              </a:rPr>
              <a:t>Perú prese</a:t>
            </a:r>
            <a:r>
              <a:rPr lang="en-US" sz="2437" spc="121">
                <a:solidFill>
                  <a:srgbClr val="1F3864"/>
                </a:solidFill>
                <a:latin typeface="Open Sauce"/>
                <a:ea typeface="Open Sauce"/>
                <a:cs typeface="Open Sauce"/>
                <a:sym typeface="Open Sauce"/>
              </a:rPr>
              <a:t>nta una alta exposición sísmica por la subducción de la placa de Nazca bajo la Sudamericana[1]</a:t>
            </a:r>
          </a:p>
        </p:txBody>
      </p:sp>
      <p:sp>
        <p:nvSpPr>
          <p:cNvPr name="TextBox 24" id="24"/>
          <p:cNvSpPr txBox="true"/>
          <p:nvPr/>
        </p:nvSpPr>
        <p:spPr>
          <a:xfrm rot="0">
            <a:off x="868752" y="3171848"/>
            <a:ext cx="8372687" cy="1919884"/>
          </a:xfrm>
          <a:prstGeom prst="rect">
            <a:avLst/>
          </a:prstGeom>
        </p:spPr>
        <p:txBody>
          <a:bodyPr anchor="t" rtlCol="false" tIns="0" lIns="0" bIns="0" rIns="0">
            <a:spAutoFit/>
          </a:bodyPr>
          <a:lstStyle/>
          <a:p>
            <a:pPr algn="l">
              <a:lnSpc>
                <a:spcPts val="3073"/>
              </a:lnSpc>
            </a:pPr>
            <a:r>
              <a:rPr lang="en-US" sz="2195" spc="109">
                <a:solidFill>
                  <a:srgbClr val="1F3864"/>
                </a:solidFill>
                <a:latin typeface="Open Sauce"/>
                <a:ea typeface="Open Sauce"/>
                <a:cs typeface="Open Sauce"/>
                <a:sym typeface="Open Sauce"/>
              </a:rPr>
              <a:t>Alrededor del 71 % de</a:t>
            </a:r>
            <a:r>
              <a:rPr lang="en-US" sz="2195" spc="109">
                <a:solidFill>
                  <a:srgbClr val="1F3864"/>
                </a:solidFill>
                <a:latin typeface="Open Sauce"/>
                <a:ea typeface="Open Sauce"/>
                <a:cs typeface="Open Sauce"/>
                <a:sym typeface="Open Sauce"/>
              </a:rPr>
              <a:t> las viviendas del área urbana nacional son autoconstruidas. </a:t>
            </a:r>
          </a:p>
          <a:p>
            <a:pPr algn="l">
              <a:lnSpc>
                <a:spcPts val="3073"/>
              </a:lnSpc>
            </a:pPr>
            <a:r>
              <a:rPr lang="en-US" sz="2195" spc="109">
                <a:solidFill>
                  <a:srgbClr val="1F3864"/>
                </a:solidFill>
                <a:latin typeface="Open Sauce"/>
                <a:ea typeface="Open Sauce"/>
                <a:cs typeface="Open Sauce"/>
                <a:sym typeface="Open Sauce"/>
              </a:rPr>
              <a:t>Dentro de este grupo, el 94 % fue construido únicamente con maestros de obra, sin estudios de suelo ni supervisión profesional. [2]</a:t>
            </a:r>
          </a:p>
        </p:txBody>
      </p:sp>
      <p:sp>
        <p:nvSpPr>
          <p:cNvPr name="TextBox 25" id="25"/>
          <p:cNvSpPr txBox="true"/>
          <p:nvPr/>
        </p:nvSpPr>
        <p:spPr>
          <a:xfrm rot="0">
            <a:off x="316501" y="7155991"/>
            <a:ext cx="3880454" cy="1622874"/>
          </a:xfrm>
          <a:prstGeom prst="rect">
            <a:avLst/>
          </a:prstGeom>
        </p:spPr>
        <p:txBody>
          <a:bodyPr anchor="t" rtlCol="false" tIns="0" lIns="0" bIns="0" rIns="0">
            <a:spAutoFit/>
          </a:bodyPr>
          <a:lstStyle/>
          <a:p>
            <a:pPr algn="ctr">
              <a:lnSpc>
                <a:spcPts val="3231"/>
              </a:lnSpc>
            </a:pPr>
            <a:r>
              <a:rPr lang="en-US" sz="2341" spc="229">
                <a:solidFill>
                  <a:srgbClr val="231F20"/>
                </a:solidFill>
                <a:latin typeface="League Spartan"/>
                <a:ea typeface="League Spartan"/>
                <a:cs typeface="League Spartan"/>
                <a:sym typeface="League Spartan"/>
              </a:rPr>
              <a:t>CARACTERÍSTICAS DE LA GRIETA</a:t>
            </a:r>
          </a:p>
          <a:p>
            <a:pPr algn="ctr">
              <a:lnSpc>
                <a:spcPts val="3231"/>
              </a:lnSpc>
            </a:pPr>
          </a:p>
          <a:p>
            <a:pPr algn="ctr">
              <a:lnSpc>
                <a:spcPts val="3231"/>
              </a:lnSpc>
            </a:pPr>
          </a:p>
        </p:txBody>
      </p:sp>
      <p:sp>
        <p:nvSpPr>
          <p:cNvPr name="TextBox 26" id="26"/>
          <p:cNvSpPr txBox="true"/>
          <p:nvPr/>
        </p:nvSpPr>
        <p:spPr>
          <a:xfrm rot="0">
            <a:off x="4512870" y="7149416"/>
            <a:ext cx="3317372" cy="1622874"/>
          </a:xfrm>
          <a:prstGeom prst="rect">
            <a:avLst/>
          </a:prstGeom>
        </p:spPr>
        <p:txBody>
          <a:bodyPr anchor="t" rtlCol="false" tIns="0" lIns="0" bIns="0" rIns="0">
            <a:spAutoFit/>
          </a:bodyPr>
          <a:lstStyle/>
          <a:p>
            <a:pPr algn="ctr">
              <a:lnSpc>
                <a:spcPts val="3231"/>
              </a:lnSpc>
            </a:pPr>
            <a:r>
              <a:rPr lang="en-US" sz="2341" spc="229">
                <a:solidFill>
                  <a:srgbClr val="231F20"/>
                </a:solidFill>
                <a:latin typeface="League Spartan"/>
                <a:ea typeface="League Spartan"/>
                <a:cs typeface="League Spartan"/>
                <a:sym typeface="League Spartan"/>
              </a:rPr>
              <a:t>CONTEXTO TERRITORIAL</a:t>
            </a:r>
          </a:p>
          <a:p>
            <a:pPr algn="ctr">
              <a:lnSpc>
                <a:spcPts val="3231"/>
              </a:lnSpc>
            </a:pPr>
          </a:p>
          <a:p>
            <a:pPr algn="ctr">
              <a:lnSpc>
                <a:spcPts val="3231"/>
              </a:lnSpc>
            </a:pPr>
          </a:p>
        </p:txBody>
      </p:sp>
      <p:sp>
        <p:nvSpPr>
          <p:cNvPr name="TextBox 27" id="27"/>
          <p:cNvSpPr txBox="true"/>
          <p:nvPr/>
        </p:nvSpPr>
        <p:spPr>
          <a:xfrm rot="0">
            <a:off x="8332231" y="7798038"/>
            <a:ext cx="3308456" cy="2385018"/>
          </a:xfrm>
          <a:prstGeom prst="rect">
            <a:avLst/>
          </a:prstGeom>
        </p:spPr>
        <p:txBody>
          <a:bodyPr anchor="t" rtlCol="false" tIns="0" lIns="0" bIns="0" rIns="0">
            <a:spAutoFit/>
          </a:bodyPr>
          <a:lstStyle/>
          <a:p>
            <a:pPr algn="ctr">
              <a:lnSpc>
                <a:spcPts val="3222"/>
              </a:lnSpc>
            </a:pPr>
            <a:r>
              <a:rPr lang="en-US" sz="2335" spc="228">
                <a:solidFill>
                  <a:srgbClr val="231F20"/>
                </a:solidFill>
                <a:latin typeface="League Spartan"/>
                <a:ea typeface="League Spartan"/>
                <a:cs typeface="League Spartan"/>
                <a:sym typeface="League Spartan"/>
              </a:rPr>
              <a:t>¿QUÉ TAN PRIORITARIA ES SU INSPECCIÓN?</a:t>
            </a:r>
          </a:p>
          <a:p>
            <a:pPr algn="ctr">
              <a:lnSpc>
                <a:spcPts val="3222"/>
              </a:lnSpc>
            </a:pPr>
          </a:p>
          <a:p>
            <a:pPr algn="ctr">
              <a:lnSpc>
                <a:spcPts val="3222"/>
              </a:lnSpc>
            </a:pPr>
          </a:p>
          <a:p>
            <a:pPr algn="ctr">
              <a:lnSpc>
                <a:spcPts val="3222"/>
              </a:lnSpc>
            </a:pPr>
          </a:p>
        </p:txBody>
      </p:sp>
      <p:sp>
        <p:nvSpPr>
          <p:cNvPr name="TextBox 28" id="28"/>
          <p:cNvSpPr txBox="true"/>
          <p:nvPr/>
        </p:nvSpPr>
        <p:spPr>
          <a:xfrm rot="0">
            <a:off x="922826" y="8224359"/>
            <a:ext cx="3022614" cy="1532377"/>
          </a:xfrm>
          <a:prstGeom prst="rect">
            <a:avLst/>
          </a:prstGeom>
        </p:spPr>
        <p:txBody>
          <a:bodyPr anchor="t" rtlCol="false" tIns="0" lIns="0" bIns="0" rIns="0">
            <a:spAutoFit/>
          </a:bodyPr>
          <a:lstStyle/>
          <a:p>
            <a:pPr algn="l">
              <a:lnSpc>
                <a:spcPts val="3073"/>
              </a:lnSpc>
            </a:pPr>
            <a:r>
              <a:rPr lang="en-US" sz="2195" spc="109">
                <a:solidFill>
                  <a:srgbClr val="1F3864"/>
                </a:solidFill>
                <a:latin typeface="Open Sauce"/>
                <a:ea typeface="Open Sauce"/>
                <a:cs typeface="Open Sauce"/>
                <a:sym typeface="Open Sauce"/>
              </a:rPr>
              <a:t>ancho</a:t>
            </a:r>
          </a:p>
          <a:p>
            <a:pPr algn="l">
              <a:lnSpc>
                <a:spcPts val="3073"/>
              </a:lnSpc>
            </a:pPr>
            <a:r>
              <a:rPr lang="en-US" sz="2195" spc="109">
                <a:solidFill>
                  <a:srgbClr val="1F3864"/>
                </a:solidFill>
                <a:latin typeface="Open Sauce"/>
                <a:ea typeface="Open Sauce"/>
                <a:cs typeface="Open Sauce"/>
                <a:sym typeface="Open Sauce"/>
              </a:rPr>
              <a:t> extensión</a:t>
            </a:r>
          </a:p>
          <a:p>
            <a:pPr algn="l">
              <a:lnSpc>
                <a:spcPts val="3073"/>
              </a:lnSpc>
            </a:pPr>
            <a:r>
              <a:rPr lang="en-US" sz="2195" spc="109">
                <a:solidFill>
                  <a:srgbClr val="1F3864"/>
                </a:solidFill>
                <a:latin typeface="Open Sauce"/>
                <a:ea typeface="Open Sauce"/>
                <a:cs typeface="Open Sauce"/>
                <a:sym typeface="Open Sauce"/>
              </a:rPr>
              <a:t> orientación/patrón</a:t>
            </a:r>
          </a:p>
          <a:p>
            <a:pPr algn="l">
              <a:lnSpc>
                <a:spcPts val="3073"/>
              </a:lnSpc>
            </a:pPr>
            <a:r>
              <a:rPr lang="en-US" sz="2195" spc="109">
                <a:solidFill>
                  <a:srgbClr val="1F3864"/>
                </a:solidFill>
                <a:latin typeface="Open Sauce"/>
                <a:ea typeface="Open Sauce"/>
                <a:cs typeface="Open Sauce"/>
                <a:sym typeface="Open Sauce"/>
              </a:rPr>
              <a:t> daño visible</a:t>
            </a:r>
          </a:p>
        </p:txBody>
      </p:sp>
      <p:sp>
        <p:nvSpPr>
          <p:cNvPr name="TextBox 29" id="29"/>
          <p:cNvSpPr txBox="true"/>
          <p:nvPr/>
        </p:nvSpPr>
        <p:spPr>
          <a:xfrm rot="0">
            <a:off x="4807628" y="8279308"/>
            <a:ext cx="3022614" cy="1919884"/>
          </a:xfrm>
          <a:prstGeom prst="rect">
            <a:avLst/>
          </a:prstGeom>
        </p:spPr>
        <p:txBody>
          <a:bodyPr anchor="t" rtlCol="false" tIns="0" lIns="0" bIns="0" rIns="0">
            <a:spAutoFit/>
          </a:bodyPr>
          <a:lstStyle/>
          <a:p>
            <a:pPr algn="l">
              <a:lnSpc>
                <a:spcPts val="3073"/>
              </a:lnSpc>
            </a:pPr>
            <a:r>
              <a:rPr lang="en-US" sz="2195" spc="109">
                <a:solidFill>
                  <a:srgbClr val="1F3864"/>
                </a:solidFill>
                <a:latin typeface="Open Sauce"/>
                <a:ea typeface="Open Sauce"/>
                <a:cs typeface="Open Sauce"/>
                <a:sym typeface="Open Sauce"/>
              </a:rPr>
              <a:t>nivel de riesgo/daño sísmico (CISMID )</a:t>
            </a:r>
          </a:p>
          <a:p>
            <a:pPr algn="l">
              <a:lnSpc>
                <a:spcPts val="3073"/>
              </a:lnSpc>
            </a:pPr>
          </a:p>
          <a:p>
            <a:pPr algn="l">
              <a:lnSpc>
                <a:spcPts val="3073"/>
              </a:lnSpc>
            </a:pPr>
          </a:p>
        </p:txBody>
      </p:sp>
      <p:sp>
        <p:nvSpPr>
          <p:cNvPr name="TextBox 30" id="30"/>
          <p:cNvSpPr txBox="true"/>
          <p:nvPr/>
        </p:nvSpPr>
        <p:spPr>
          <a:xfrm rot="0">
            <a:off x="12429092" y="7139891"/>
            <a:ext cx="6921353" cy="414334"/>
          </a:xfrm>
          <a:prstGeom prst="rect">
            <a:avLst/>
          </a:prstGeom>
        </p:spPr>
        <p:txBody>
          <a:bodyPr anchor="t" rtlCol="false" tIns="0" lIns="0" bIns="0" rIns="0">
            <a:spAutoFit/>
          </a:bodyPr>
          <a:lstStyle/>
          <a:p>
            <a:pPr algn="l">
              <a:lnSpc>
                <a:spcPts val="3412"/>
              </a:lnSpc>
            </a:pPr>
            <a:r>
              <a:rPr lang="en-US" sz="2437" spc="121">
                <a:solidFill>
                  <a:srgbClr val="FDFBFB"/>
                </a:solidFill>
                <a:latin typeface="Open Sauce"/>
                <a:ea typeface="Open Sauce"/>
                <a:cs typeface="Open Sauce"/>
                <a:sym typeface="Open Sauce"/>
              </a:rPr>
              <a:t>F</a:t>
            </a:r>
            <a:r>
              <a:rPr lang="en-US" sz="2437" spc="121">
                <a:solidFill>
                  <a:srgbClr val="FDFBFB"/>
                </a:solidFill>
                <a:latin typeface="Open Sauce"/>
                <a:ea typeface="Open Sauce"/>
                <a:cs typeface="Open Sauce"/>
                <a:sym typeface="Open Sauce"/>
              </a:rPr>
              <a:t>uente: CISMID-FIC-UNI (2026).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30704" y="-558218"/>
            <a:ext cx="3812227" cy="11299900"/>
            <a:chOff x="0" y="0"/>
            <a:chExt cx="1004043" cy="2976105"/>
          </a:xfrm>
        </p:grpSpPr>
        <p:sp>
          <p:nvSpPr>
            <p:cNvPr name="Freeform 3" id="3"/>
            <p:cNvSpPr/>
            <p:nvPr/>
          </p:nvSpPr>
          <p:spPr>
            <a:xfrm flipH="false" flipV="false" rot="0">
              <a:off x="0" y="0"/>
              <a:ext cx="1004043" cy="2976105"/>
            </a:xfrm>
            <a:custGeom>
              <a:avLst/>
              <a:gdLst/>
              <a:ahLst/>
              <a:cxnLst/>
              <a:rect r="r" b="b" t="t" l="l"/>
              <a:pathLst>
                <a:path h="2976105" w="1004043">
                  <a:moveTo>
                    <a:pt x="0" y="0"/>
                  </a:moveTo>
                  <a:lnTo>
                    <a:pt x="1004043" y="0"/>
                  </a:lnTo>
                  <a:lnTo>
                    <a:pt x="1004043" y="2976105"/>
                  </a:lnTo>
                  <a:lnTo>
                    <a:pt x="0" y="2976105"/>
                  </a:lnTo>
                  <a:close/>
                </a:path>
              </a:pathLst>
            </a:custGeom>
            <a:solidFill>
              <a:srgbClr val="1F3864"/>
            </a:solidFill>
          </p:spPr>
        </p:sp>
        <p:sp>
          <p:nvSpPr>
            <p:cNvPr name="TextBox 4" id="4"/>
            <p:cNvSpPr txBox="true"/>
            <p:nvPr/>
          </p:nvSpPr>
          <p:spPr>
            <a:xfrm>
              <a:off x="0" y="-19050"/>
              <a:ext cx="1004043"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6474081" y="-308512"/>
            <a:ext cx="1813919" cy="10607668"/>
            <a:chOff x="0" y="0"/>
            <a:chExt cx="477740" cy="2793789"/>
          </a:xfrm>
        </p:grpSpPr>
        <p:sp>
          <p:nvSpPr>
            <p:cNvPr name="Freeform 6" id="6"/>
            <p:cNvSpPr/>
            <p:nvPr/>
          </p:nvSpPr>
          <p:spPr>
            <a:xfrm flipH="false" flipV="false" rot="0">
              <a:off x="0" y="0"/>
              <a:ext cx="477740" cy="2793789"/>
            </a:xfrm>
            <a:custGeom>
              <a:avLst/>
              <a:gdLst/>
              <a:ahLst/>
              <a:cxnLst/>
              <a:rect r="r" b="b" t="t" l="l"/>
              <a:pathLst>
                <a:path h="2793789" w="477740">
                  <a:moveTo>
                    <a:pt x="0" y="0"/>
                  </a:moveTo>
                  <a:lnTo>
                    <a:pt x="477740" y="0"/>
                  </a:lnTo>
                  <a:lnTo>
                    <a:pt x="477740" y="2793789"/>
                  </a:lnTo>
                  <a:lnTo>
                    <a:pt x="0" y="2793789"/>
                  </a:lnTo>
                  <a:close/>
                </a:path>
              </a:pathLst>
            </a:custGeom>
            <a:solidFill>
              <a:srgbClr val="1F3864"/>
            </a:solidFill>
          </p:spPr>
        </p:sp>
        <p:sp>
          <p:nvSpPr>
            <p:cNvPr name="TextBox 7" id="7"/>
            <p:cNvSpPr txBox="true"/>
            <p:nvPr/>
          </p:nvSpPr>
          <p:spPr>
            <a:xfrm>
              <a:off x="0" y="-19050"/>
              <a:ext cx="477740" cy="2812839"/>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776132" y="1369559"/>
            <a:ext cx="3383622" cy="3383622"/>
          </a:xfrm>
          <a:custGeom>
            <a:avLst/>
            <a:gdLst/>
            <a:ahLst/>
            <a:cxnLst/>
            <a:rect r="r" b="b" t="t" l="l"/>
            <a:pathLst>
              <a:path h="3383622" w="3383622">
                <a:moveTo>
                  <a:pt x="0" y="0"/>
                </a:moveTo>
                <a:lnTo>
                  <a:pt x="3383622" y="0"/>
                </a:lnTo>
                <a:lnTo>
                  <a:pt x="3383622" y="3383621"/>
                </a:lnTo>
                <a:lnTo>
                  <a:pt x="0" y="3383621"/>
                </a:lnTo>
                <a:lnTo>
                  <a:pt x="0" y="0"/>
                </a:lnTo>
                <a:close/>
              </a:path>
            </a:pathLst>
          </a:custGeom>
          <a:blipFill>
            <a:blip r:embed="rId4"/>
            <a:stretch>
              <a:fillRect l="0" t="0" r="0" b="0"/>
            </a:stretch>
          </a:blipFill>
        </p:spPr>
      </p:sp>
      <p:sp>
        <p:nvSpPr>
          <p:cNvPr name="Freeform 10" id="10"/>
          <p:cNvSpPr/>
          <p:nvPr/>
        </p:nvSpPr>
        <p:spPr>
          <a:xfrm flipH="false" flipV="false" rot="0">
            <a:off x="14387238" y="3054306"/>
            <a:ext cx="3486609" cy="3562696"/>
          </a:xfrm>
          <a:custGeom>
            <a:avLst/>
            <a:gdLst/>
            <a:ahLst/>
            <a:cxnLst/>
            <a:rect r="r" b="b" t="t" l="l"/>
            <a:pathLst>
              <a:path h="3562696" w="3486609">
                <a:moveTo>
                  <a:pt x="0" y="0"/>
                </a:moveTo>
                <a:lnTo>
                  <a:pt x="3486610" y="0"/>
                </a:lnTo>
                <a:lnTo>
                  <a:pt x="3486610" y="3562695"/>
                </a:lnTo>
                <a:lnTo>
                  <a:pt x="0" y="3562695"/>
                </a:lnTo>
                <a:lnTo>
                  <a:pt x="0" y="0"/>
                </a:lnTo>
                <a:close/>
              </a:path>
            </a:pathLst>
          </a:custGeom>
          <a:blipFill>
            <a:blip r:embed="rId5"/>
            <a:stretch>
              <a:fillRect l="-1091" t="0" r="-1091" b="0"/>
            </a:stretch>
          </a:blipFill>
        </p:spPr>
      </p:sp>
      <p:sp>
        <p:nvSpPr>
          <p:cNvPr name="TextBox 11" id="11"/>
          <p:cNvSpPr txBox="true"/>
          <p:nvPr/>
        </p:nvSpPr>
        <p:spPr>
          <a:xfrm rot="0">
            <a:off x="4024659" y="5710105"/>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04</a:t>
            </a:r>
          </a:p>
        </p:txBody>
      </p:sp>
      <p:sp>
        <p:nvSpPr>
          <p:cNvPr name="TextBox 12" id="12"/>
          <p:cNvSpPr txBox="true"/>
          <p:nvPr/>
        </p:nvSpPr>
        <p:spPr>
          <a:xfrm rot="0">
            <a:off x="4044260" y="6502482"/>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05</a:t>
            </a:r>
          </a:p>
        </p:txBody>
      </p:sp>
      <p:sp>
        <p:nvSpPr>
          <p:cNvPr name="TextBox 13" id="13"/>
          <p:cNvSpPr txBox="true"/>
          <p:nvPr/>
        </p:nvSpPr>
        <p:spPr>
          <a:xfrm rot="0">
            <a:off x="3437864" y="7187516"/>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07</a:t>
            </a:r>
          </a:p>
        </p:txBody>
      </p:sp>
      <p:sp>
        <p:nvSpPr>
          <p:cNvPr name="TextBox 14" id="14"/>
          <p:cNvSpPr txBox="true"/>
          <p:nvPr/>
        </p:nvSpPr>
        <p:spPr>
          <a:xfrm rot="0">
            <a:off x="4024659" y="4031829"/>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02</a:t>
            </a:r>
          </a:p>
        </p:txBody>
      </p:sp>
      <p:sp>
        <p:nvSpPr>
          <p:cNvPr name="TextBox 15" id="15"/>
          <p:cNvSpPr txBox="true"/>
          <p:nvPr/>
        </p:nvSpPr>
        <p:spPr>
          <a:xfrm rot="0">
            <a:off x="4024659" y="4912986"/>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03</a:t>
            </a:r>
          </a:p>
        </p:txBody>
      </p:sp>
      <p:sp>
        <p:nvSpPr>
          <p:cNvPr name="TextBox 16" id="16"/>
          <p:cNvSpPr txBox="true"/>
          <p:nvPr/>
        </p:nvSpPr>
        <p:spPr>
          <a:xfrm rot="0">
            <a:off x="1514663" y="754694"/>
            <a:ext cx="11417504" cy="671038"/>
          </a:xfrm>
          <a:prstGeom prst="rect">
            <a:avLst/>
          </a:prstGeom>
        </p:spPr>
        <p:txBody>
          <a:bodyPr anchor="t" rtlCol="false" tIns="0" lIns="0" bIns="0" rIns="0">
            <a:spAutoFit/>
          </a:bodyPr>
          <a:lstStyle/>
          <a:p>
            <a:pPr algn="l">
              <a:lnSpc>
                <a:spcPts val="5491"/>
              </a:lnSpc>
            </a:pPr>
            <a:r>
              <a:rPr lang="en-US" sz="3979" spc="389">
                <a:solidFill>
                  <a:srgbClr val="231F20"/>
                </a:solidFill>
                <a:latin typeface="League Spartan"/>
                <a:ea typeface="League Spartan"/>
                <a:cs typeface="League Spartan"/>
                <a:sym typeface="League Spartan"/>
              </a:rPr>
              <a:t>¿Cómo aporta CrackScan a los ODS?</a:t>
            </a:r>
          </a:p>
        </p:txBody>
      </p:sp>
      <p:sp>
        <p:nvSpPr>
          <p:cNvPr name="TextBox 17" id="17"/>
          <p:cNvSpPr txBox="true"/>
          <p:nvPr/>
        </p:nvSpPr>
        <p:spPr>
          <a:xfrm rot="0">
            <a:off x="1490534" y="2114060"/>
            <a:ext cx="979531" cy="732563"/>
          </a:xfrm>
          <a:prstGeom prst="rect">
            <a:avLst/>
          </a:prstGeom>
        </p:spPr>
        <p:txBody>
          <a:bodyPr anchor="t" rtlCol="false" tIns="0" lIns="0" bIns="0" rIns="0">
            <a:spAutoFit/>
          </a:bodyPr>
          <a:lstStyle/>
          <a:p>
            <a:pPr algn="ctr" marL="0" indent="0" lvl="0">
              <a:lnSpc>
                <a:spcPts val="6047"/>
              </a:lnSpc>
              <a:spcBef>
                <a:spcPct val="0"/>
              </a:spcBef>
            </a:pPr>
            <a:r>
              <a:rPr lang="en-US" sz="4381" spc="429">
                <a:solidFill>
                  <a:srgbClr val="231F20"/>
                </a:solidFill>
                <a:latin typeface="Montserrat"/>
                <a:ea typeface="Montserrat"/>
                <a:cs typeface="Montserrat"/>
                <a:sym typeface="Montserrat"/>
              </a:rPr>
              <a:t>09</a:t>
            </a:r>
          </a:p>
        </p:txBody>
      </p:sp>
      <p:sp>
        <p:nvSpPr>
          <p:cNvPr name="TextBox 18" id="18"/>
          <p:cNvSpPr txBox="true"/>
          <p:nvPr/>
        </p:nvSpPr>
        <p:spPr>
          <a:xfrm rot="0">
            <a:off x="1515782" y="4131400"/>
            <a:ext cx="979531" cy="732563"/>
          </a:xfrm>
          <a:prstGeom prst="rect">
            <a:avLst/>
          </a:prstGeom>
        </p:spPr>
        <p:txBody>
          <a:bodyPr anchor="t" rtlCol="false" tIns="0" lIns="0" bIns="0" rIns="0">
            <a:spAutoFit/>
          </a:bodyPr>
          <a:lstStyle/>
          <a:p>
            <a:pPr algn="ctr" marL="0" indent="0" lvl="0">
              <a:lnSpc>
                <a:spcPts val="6047"/>
              </a:lnSpc>
              <a:spcBef>
                <a:spcPct val="0"/>
              </a:spcBef>
            </a:pPr>
            <a:r>
              <a:rPr lang="en-US" sz="4381" spc="429">
                <a:solidFill>
                  <a:srgbClr val="231F20"/>
                </a:solidFill>
                <a:latin typeface="Montserrat"/>
                <a:ea typeface="Montserrat"/>
                <a:cs typeface="Montserrat"/>
                <a:sym typeface="Montserrat"/>
              </a:rPr>
              <a:t>11</a:t>
            </a:r>
          </a:p>
        </p:txBody>
      </p:sp>
      <p:sp>
        <p:nvSpPr>
          <p:cNvPr name="TextBox 19" id="19"/>
          <p:cNvSpPr txBox="true"/>
          <p:nvPr/>
        </p:nvSpPr>
        <p:spPr>
          <a:xfrm rot="0">
            <a:off x="2592242" y="2052481"/>
            <a:ext cx="7679549" cy="1804324"/>
          </a:xfrm>
          <a:prstGeom prst="rect">
            <a:avLst/>
          </a:prstGeom>
        </p:spPr>
        <p:txBody>
          <a:bodyPr anchor="t" rtlCol="false" tIns="0" lIns="0" bIns="0" rIns="0">
            <a:spAutoFit/>
          </a:bodyPr>
          <a:lstStyle/>
          <a:p>
            <a:pPr algn="l">
              <a:lnSpc>
                <a:spcPts val="2924"/>
              </a:lnSpc>
            </a:pPr>
            <a:r>
              <a:rPr lang="en-US" sz="2088" spc="104" b="true">
                <a:solidFill>
                  <a:srgbClr val="1F3864"/>
                </a:solidFill>
                <a:latin typeface="Open Sauce Bold"/>
                <a:ea typeface="Open Sauce Bold"/>
                <a:cs typeface="Open Sauce Bold"/>
                <a:sym typeface="Open Sauce Bold"/>
              </a:rPr>
              <a:t>Meta 9.1 Contribui</a:t>
            </a:r>
            <a:r>
              <a:rPr lang="en-US" sz="2088" spc="104" b="true">
                <a:solidFill>
                  <a:srgbClr val="1F3864"/>
                </a:solidFill>
                <a:latin typeface="Open Sauce Bold"/>
                <a:ea typeface="Open Sauce Bold"/>
                <a:cs typeface="Open Sauce Bold"/>
                <a:sym typeface="Open Sauce Bold"/>
              </a:rPr>
              <a:t>r al desarrollo de infraestructura más resiliente mediante una herramienta tecnológica para apoyar la inspección y priorización de viviendas.</a:t>
            </a:r>
          </a:p>
          <a:p>
            <a:pPr algn="l">
              <a:lnSpc>
                <a:spcPts val="2924"/>
              </a:lnSpc>
            </a:pPr>
          </a:p>
        </p:txBody>
      </p:sp>
      <p:sp>
        <p:nvSpPr>
          <p:cNvPr name="TextBox 20" id="20"/>
          <p:cNvSpPr txBox="true"/>
          <p:nvPr/>
        </p:nvSpPr>
        <p:spPr>
          <a:xfrm rot="0">
            <a:off x="2627603" y="4118963"/>
            <a:ext cx="9191624" cy="1442374"/>
          </a:xfrm>
          <a:prstGeom prst="rect">
            <a:avLst/>
          </a:prstGeom>
        </p:spPr>
        <p:txBody>
          <a:bodyPr anchor="t" rtlCol="false" tIns="0" lIns="0" bIns="0" rIns="0">
            <a:spAutoFit/>
          </a:bodyPr>
          <a:lstStyle/>
          <a:p>
            <a:pPr algn="l">
              <a:lnSpc>
                <a:spcPts val="2924"/>
              </a:lnSpc>
            </a:pPr>
            <a:r>
              <a:rPr lang="en-US" sz="2088" spc="104" b="true">
                <a:solidFill>
                  <a:srgbClr val="1F3864"/>
                </a:solidFill>
                <a:latin typeface="Open Sauce Bold"/>
                <a:ea typeface="Open Sauce Bold"/>
                <a:cs typeface="Open Sauce Bold"/>
                <a:sym typeface="Open Sauce Bold"/>
              </a:rPr>
              <a:t>Meta 11.5 Contribui</a:t>
            </a:r>
            <a:r>
              <a:rPr lang="en-US" sz="2088" spc="104" b="true">
                <a:solidFill>
                  <a:srgbClr val="1F3864"/>
                </a:solidFill>
                <a:latin typeface="Open Sauce Bold"/>
                <a:ea typeface="Open Sauce Bold"/>
                <a:cs typeface="Open Sauce Bold"/>
                <a:sym typeface="Open Sauce Bold"/>
              </a:rPr>
              <a:t>r a la reducción de los efectos de los desastres mediante la identificación y priorización de viviendas que podrían requerir una inspección técnica.</a:t>
            </a:r>
          </a:p>
          <a:p>
            <a:pPr algn="l">
              <a:lnSpc>
                <a:spcPts val="2924"/>
              </a:lnSpc>
            </a:pPr>
          </a:p>
        </p:txBody>
      </p:sp>
      <p:sp>
        <p:nvSpPr>
          <p:cNvPr name="TextBox 21" id="21"/>
          <p:cNvSpPr txBox="true"/>
          <p:nvPr/>
        </p:nvSpPr>
        <p:spPr>
          <a:xfrm rot="0">
            <a:off x="1667063" y="5411754"/>
            <a:ext cx="11417504" cy="671038"/>
          </a:xfrm>
          <a:prstGeom prst="rect">
            <a:avLst/>
          </a:prstGeom>
        </p:spPr>
        <p:txBody>
          <a:bodyPr anchor="t" rtlCol="false" tIns="0" lIns="0" bIns="0" rIns="0">
            <a:spAutoFit/>
          </a:bodyPr>
          <a:lstStyle/>
          <a:p>
            <a:pPr algn="l">
              <a:lnSpc>
                <a:spcPts val="5491"/>
              </a:lnSpc>
            </a:pPr>
            <a:r>
              <a:rPr lang="en-US" sz="3979" spc="389">
                <a:solidFill>
                  <a:srgbClr val="231F20"/>
                </a:solidFill>
                <a:latin typeface="League Spartan"/>
                <a:ea typeface="League Spartan"/>
                <a:cs typeface="League Spartan"/>
                <a:sym typeface="League Spartan"/>
              </a:rPr>
              <a:t>Funcionamiento del sistema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559939" y="2562898"/>
            <a:ext cx="15709548" cy="3545796"/>
          </a:xfrm>
          <a:prstGeom prst="rect">
            <a:avLst/>
          </a:prstGeom>
        </p:spPr>
        <p:txBody>
          <a:bodyPr anchor="t" rtlCol="false" tIns="0" lIns="0" bIns="0" rIns="0">
            <a:spAutoFit/>
          </a:bodyPr>
          <a:lstStyle/>
          <a:p>
            <a:pPr algn="ctr">
              <a:lnSpc>
                <a:spcPts val="14224"/>
              </a:lnSpc>
            </a:pPr>
            <a:r>
              <a:rPr lang="en-US" b="true" sz="10307" spc="1010">
                <a:solidFill>
                  <a:srgbClr val="FFFFFF"/>
                </a:solidFill>
                <a:latin typeface="Montserrat Bold"/>
                <a:ea typeface="Montserrat Bold"/>
                <a:cs typeface="Montserrat Bold"/>
                <a:sym typeface="Montserrat Bold"/>
              </a:rPr>
              <a:t>LISTA DE REQUERIMIENTOS</a:t>
            </a:r>
          </a:p>
        </p:txBody>
      </p:sp>
      <p:sp>
        <p:nvSpPr>
          <p:cNvPr name="TextBox 4" id="4"/>
          <p:cNvSpPr txBox="true"/>
          <p:nvPr/>
        </p:nvSpPr>
        <p:spPr>
          <a:xfrm rot="0">
            <a:off x="4995836" y="6224800"/>
            <a:ext cx="8296328" cy="520695"/>
          </a:xfrm>
          <a:prstGeom prst="rect">
            <a:avLst/>
          </a:prstGeom>
        </p:spPr>
        <p:txBody>
          <a:bodyPr anchor="t" rtlCol="false" tIns="0" lIns="0" bIns="0" rIns="0">
            <a:spAutoFit/>
          </a:bodyPr>
          <a:lstStyle/>
          <a:p>
            <a:pPr algn="ctr">
              <a:lnSpc>
                <a:spcPts val="4216"/>
              </a:lnSpc>
            </a:pPr>
            <a:r>
              <a:rPr lang="en-US" sz="3055" spc="299">
                <a:solidFill>
                  <a:srgbClr val="F5FFF5"/>
                </a:solidFill>
                <a:latin typeface="Open Sauce"/>
                <a:ea typeface="Open Sauce"/>
                <a:cs typeface="Open Sauce"/>
                <a:sym typeface="Open Sauce"/>
              </a:rPr>
              <a:t>Version 2.0</a:t>
            </a:r>
          </a:p>
        </p:txBody>
      </p:sp>
      <p:sp>
        <p:nvSpPr>
          <p:cNvPr name="Freeform 5" id="5"/>
          <p:cNvSpPr/>
          <p:nvPr/>
        </p:nvSpPr>
        <p:spPr>
          <a:xfrm flipH="true" flipV="true" rot="0">
            <a:off x="-3801253" y="0"/>
            <a:ext cx="7602505" cy="6745495"/>
          </a:xfrm>
          <a:custGeom>
            <a:avLst/>
            <a:gdLst/>
            <a:ahLst/>
            <a:cxnLst/>
            <a:rect r="r" b="b" t="t" l="l"/>
            <a:pathLst>
              <a:path h="6745495" w="7602505">
                <a:moveTo>
                  <a:pt x="7602506" y="6745495"/>
                </a:moveTo>
                <a:lnTo>
                  <a:pt x="0" y="6745495"/>
                </a:lnTo>
                <a:lnTo>
                  <a:pt x="0" y="0"/>
                </a:lnTo>
                <a:lnTo>
                  <a:pt x="7602506" y="0"/>
                </a:lnTo>
                <a:lnTo>
                  <a:pt x="7602506" y="674549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486747" y="3541505"/>
            <a:ext cx="7602505" cy="6745495"/>
          </a:xfrm>
          <a:custGeom>
            <a:avLst/>
            <a:gdLst/>
            <a:ahLst/>
            <a:cxnLst/>
            <a:rect r="r" b="b" t="t" l="l"/>
            <a:pathLst>
              <a:path h="6745495" w="7602505">
                <a:moveTo>
                  <a:pt x="7602506" y="0"/>
                </a:moveTo>
                <a:lnTo>
                  <a:pt x="0" y="0"/>
                </a:lnTo>
                <a:lnTo>
                  <a:pt x="0" y="6745495"/>
                </a:lnTo>
                <a:lnTo>
                  <a:pt x="7602506" y="6745495"/>
                </a:lnTo>
                <a:lnTo>
                  <a:pt x="76025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3606" y="0"/>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27773" y="4163622"/>
            <a:ext cx="110236" cy="2818996"/>
            <a:chOff x="0" y="0"/>
            <a:chExt cx="26312" cy="672855"/>
          </a:xfrm>
        </p:grpSpPr>
        <p:sp>
          <p:nvSpPr>
            <p:cNvPr name="Freeform 9" id="9"/>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0" id="10"/>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2857101" y="-2238638"/>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125287" y="274318"/>
            <a:ext cx="2894419" cy="1961117"/>
          </a:xfrm>
          <a:custGeom>
            <a:avLst/>
            <a:gdLst/>
            <a:ahLst/>
            <a:cxnLst/>
            <a:rect r="r" b="b" t="t" l="l"/>
            <a:pathLst>
              <a:path h="1961117" w="2894419">
                <a:moveTo>
                  <a:pt x="0" y="0"/>
                </a:moveTo>
                <a:lnTo>
                  <a:pt x="2894419" y="0"/>
                </a:lnTo>
                <a:lnTo>
                  <a:pt x="2894419" y="1961117"/>
                </a:lnTo>
                <a:lnTo>
                  <a:pt x="0" y="1961117"/>
                </a:lnTo>
                <a:lnTo>
                  <a:pt x="0" y="0"/>
                </a:lnTo>
                <a:close/>
              </a:path>
            </a:pathLst>
          </a:custGeom>
          <a:blipFill>
            <a:blip r:embed="rId6"/>
            <a:stretch>
              <a:fillRect l="0" t="0" r="0" b="0"/>
            </a:stretch>
          </a:blipFill>
        </p:spPr>
      </p:sp>
      <p:sp>
        <p:nvSpPr>
          <p:cNvPr name="Freeform 14" id="14"/>
          <p:cNvSpPr/>
          <p:nvPr/>
        </p:nvSpPr>
        <p:spPr>
          <a:xfrm flipH="false" flipV="false" rot="0">
            <a:off x="2389660" y="1876162"/>
            <a:ext cx="11889018" cy="1419274"/>
          </a:xfrm>
          <a:custGeom>
            <a:avLst/>
            <a:gdLst/>
            <a:ahLst/>
            <a:cxnLst/>
            <a:rect r="r" b="b" t="t" l="l"/>
            <a:pathLst>
              <a:path h="1419274" w="11889018">
                <a:moveTo>
                  <a:pt x="0" y="0"/>
                </a:moveTo>
                <a:lnTo>
                  <a:pt x="11889017" y="0"/>
                </a:lnTo>
                <a:lnTo>
                  <a:pt x="11889017" y="1419274"/>
                </a:lnTo>
                <a:lnTo>
                  <a:pt x="0" y="1419274"/>
                </a:lnTo>
                <a:lnTo>
                  <a:pt x="0" y="0"/>
                </a:lnTo>
                <a:close/>
              </a:path>
            </a:pathLst>
          </a:custGeom>
          <a:blipFill>
            <a:blip r:embed="rId7"/>
            <a:stretch>
              <a:fillRect l="0" t="-10058" r="0" b="-10058"/>
            </a:stretch>
          </a:blipFill>
        </p:spPr>
      </p:sp>
      <p:sp>
        <p:nvSpPr>
          <p:cNvPr name="Freeform 15" id="15"/>
          <p:cNvSpPr/>
          <p:nvPr/>
        </p:nvSpPr>
        <p:spPr>
          <a:xfrm flipH="false" flipV="false" rot="0">
            <a:off x="2418235" y="3295436"/>
            <a:ext cx="11889018" cy="1789520"/>
          </a:xfrm>
          <a:custGeom>
            <a:avLst/>
            <a:gdLst/>
            <a:ahLst/>
            <a:cxnLst/>
            <a:rect r="r" b="b" t="t" l="l"/>
            <a:pathLst>
              <a:path h="1789520" w="11889018">
                <a:moveTo>
                  <a:pt x="0" y="0"/>
                </a:moveTo>
                <a:lnTo>
                  <a:pt x="11889017" y="0"/>
                </a:lnTo>
                <a:lnTo>
                  <a:pt x="11889017" y="1789520"/>
                </a:lnTo>
                <a:lnTo>
                  <a:pt x="0" y="1789520"/>
                </a:lnTo>
                <a:lnTo>
                  <a:pt x="0" y="0"/>
                </a:lnTo>
                <a:close/>
              </a:path>
            </a:pathLst>
          </a:custGeom>
          <a:blipFill>
            <a:blip r:embed="rId8"/>
            <a:stretch>
              <a:fillRect l="0" t="-10058" r="0" b="-10058"/>
            </a:stretch>
          </a:blipFill>
        </p:spPr>
      </p:sp>
      <p:sp>
        <p:nvSpPr>
          <p:cNvPr name="Freeform 16" id="16"/>
          <p:cNvSpPr/>
          <p:nvPr/>
        </p:nvSpPr>
        <p:spPr>
          <a:xfrm flipH="false" flipV="false" rot="0">
            <a:off x="2332510" y="5084956"/>
            <a:ext cx="11889018" cy="4870183"/>
          </a:xfrm>
          <a:custGeom>
            <a:avLst/>
            <a:gdLst/>
            <a:ahLst/>
            <a:cxnLst/>
            <a:rect r="r" b="b" t="t" l="l"/>
            <a:pathLst>
              <a:path h="4870183" w="11889018">
                <a:moveTo>
                  <a:pt x="0" y="0"/>
                </a:moveTo>
                <a:lnTo>
                  <a:pt x="11889017" y="0"/>
                </a:lnTo>
                <a:lnTo>
                  <a:pt x="11889017" y="4870182"/>
                </a:lnTo>
                <a:lnTo>
                  <a:pt x="0" y="4870182"/>
                </a:lnTo>
                <a:lnTo>
                  <a:pt x="0" y="0"/>
                </a:lnTo>
                <a:close/>
              </a:path>
            </a:pathLst>
          </a:custGeom>
          <a:blipFill>
            <a:blip r:embed="rId9"/>
            <a:stretch>
              <a:fillRect l="0" t="-286" r="0" b="-286"/>
            </a:stretch>
          </a:blipFill>
        </p:spPr>
      </p:sp>
      <p:sp>
        <p:nvSpPr>
          <p:cNvPr name="TextBox 17" id="17"/>
          <p:cNvSpPr txBox="true"/>
          <p:nvPr/>
        </p:nvSpPr>
        <p:spPr>
          <a:xfrm rot="0">
            <a:off x="1543050" y="198118"/>
            <a:ext cx="13390556" cy="1698574"/>
          </a:xfrm>
          <a:prstGeom prst="rect">
            <a:avLst/>
          </a:prstGeom>
        </p:spPr>
        <p:txBody>
          <a:bodyPr anchor="t" rtlCol="false" tIns="0" lIns="0" bIns="0" rIns="0">
            <a:spAutoFit/>
          </a:bodyPr>
          <a:lstStyle/>
          <a:p>
            <a:pPr algn="ctr">
              <a:lnSpc>
                <a:spcPts val="6858"/>
              </a:lnSpc>
            </a:pPr>
            <a:r>
              <a:rPr lang="en-US" b="true" sz="4969" spc="487">
                <a:solidFill>
                  <a:srgbClr val="010101"/>
                </a:solidFill>
                <a:latin typeface="Montserrat Bold"/>
                <a:ea typeface="Montserrat Bold"/>
                <a:cs typeface="Montserrat Bold"/>
                <a:sym typeface="Montserrat Bold"/>
              </a:rPr>
              <a:t>REQUERIMIENTOS FUNCIONALES Y DE DESEMPEÑO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52656" y="0"/>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27773" y="4163622"/>
            <a:ext cx="110236" cy="2818996"/>
            <a:chOff x="0" y="0"/>
            <a:chExt cx="26312" cy="672855"/>
          </a:xfrm>
        </p:grpSpPr>
        <p:sp>
          <p:nvSpPr>
            <p:cNvPr name="Freeform 9" id="9"/>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0" id="10"/>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2857101" y="-2238638"/>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125287" y="274318"/>
            <a:ext cx="2894419" cy="1961117"/>
          </a:xfrm>
          <a:custGeom>
            <a:avLst/>
            <a:gdLst/>
            <a:ahLst/>
            <a:cxnLst/>
            <a:rect r="r" b="b" t="t" l="l"/>
            <a:pathLst>
              <a:path h="1961117" w="2894419">
                <a:moveTo>
                  <a:pt x="0" y="0"/>
                </a:moveTo>
                <a:lnTo>
                  <a:pt x="2894419" y="0"/>
                </a:lnTo>
                <a:lnTo>
                  <a:pt x="2894419" y="1961117"/>
                </a:lnTo>
                <a:lnTo>
                  <a:pt x="0" y="1961117"/>
                </a:lnTo>
                <a:lnTo>
                  <a:pt x="0" y="0"/>
                </a:lnTo>
                <a:close/>
              </a:path>
            </a:pathLst>
          </a:custGeom>
          <a:blipFill>
            <a:blip r:embed="rId6"/>
            <a:stretch>
              <a:fillRect l="0" t="0" r="0" b="0"/>
            </a:stretch>
          </a:blipFill>
        </p:spPr>
      </p:sp>
      <p:sp>
        <p:nvSpPr>
          <p:cNvPr name="Freeform 14" id="14"/>
          <p:cNvSpPr/>
          <p:nvPr/>
        </p:nvSpPr>
        <p:spPr>
          <a:xfrm flipH="false" flipV="false" rot="0">
            <a:off x="2132808" y="1489038"/>
            <a:ext cx="12147514" cy="8098343"/>
          </a:xfrm>
          <a:custGeom>
            <a:avLst/>
            <a:gdLst/>
            <a:ahLst/>
            <a:cxnLst/>
            <a:rect r="r" b="b" t="t" l="l"/>
            <a:pathLst>
              <a:path h="8098343" w="12147514">
                <a:moveTo>
                  <a:pt x="0" y="0"/>
                </a:moveTo>
                <a:lnTo>
                  <a:pt x="12147514" y="0"/>
                </a:lnTo>
                <a:lnTo>
                  <a:pt x="12147514" y="8098343"/>
                </a:lnTo>
                <a:lnTo>
                  <a:pt x="0" y="8098343"/>
                </a:lnTo>
                <a:lnTo>
                  <a:pt x="0" y="0"/>
                </a:lnTo>
                <a:close/>
              </a:path>
            </a:pathLst>
          </a:custGeom>
          <a:blipFill>
            <a:blip r:embed="rId7"/>
            <a:stretch>
              <a:fillRect l="0" t="0" r="0" b="0"/>
            </a:stretch>
          </a:blipFill>
        </p:spPr>
      </p:sp>
      <p:sp>
        <p:nvSpPr>
          <p:cNvPr name="TextBox 15" id="15"/>
          <p:cNvSpPr txBox="true"/>
          <p:nvPr/>
        </p:nvSpPr>
        <p:spPr>
          <a:xfrm rot="0">
            <a:off x="1543050" y="198118"/>
            <a:ext cx="13390556" cy="830582"/>
          </a:xfrm>
          <a:prstGeom prst="rect">
            <a:avLst/>
          </a:prstGeom>
        </p:spPr>
        <p:txBody>
          <a:bodyPr anchor="t" rtlCol="false" tIns="0" lIns="0" bIns="0" rIns="0">
            <a:spAutoFit/>
          </a:bodyPr>
          <a:lstStyle/>
          <a:p>
            <a:pPr algn="ctr">
              <a:lnSpc>
                <a:spcPts val="6858"/>
              </a:lnSpc>
            </a:pPr>
            <a:r>
              <a:rPr lang="en-US" b="true" sz="4969" spc="487">
                <a:solidFill>
                  <a:srgbClr val="010101"/>
                </a:solidFill>
                <a:latin typeface="Montserrat Bold"/>
                <a:ea typeface="Montserrat Bold"/>
                <a:cs typeface="Montserrat Bold"/>
                <a:sym typeface="Montserrat Bold"/>
              </a:rPr>
              <a:t>DISEÑO Y COMPONENTES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3606" y="0"/>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27773" y="4163622"/>
            <a:ext cx="110236" cy="2818996"/>
            <a:chOff x="0" y="0"/>
            <a:chExt cx="26312" cy="672855"/>
          </a:xfrm>
        </p:grpSpPr>
        <p:sp>
          <p:nvSpPr>
            <p:cNvPr name="Freeform 9" id="9"/>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0" id="10"/>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2857101" y="-2238638"/>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125287" y="274318"/>
            <a:ext cx="2894419" cy="1961117"/>
          </a:xfrm>
          <a:custGeom>
            <a:avLst/>
            <a:gdLst/>
            <a:ahLst/>
            <a:cxnLst/>
            <a:rect r="r" b="b" t="t" l="l"/>
            <a:pathLst>
              <a:path h="1961117" w="2894419">
                <a:moveTo>
                  <a:pt x="0" y="0"/>
                </a:moveTo>
                <a:lnTo>
                  <a:pt x="2894419" y="0"/>
                </a:lnTo>
                <a:lnTo>
                  <a:pt x="2894419" y="1961117"/>
                </a:lnTo>
                <a:lnTo>
                  <a:pt x="0" y="1961117"/>
                </a:lnTo>
                <a:lnTo>
                  <a:pt x="0" y="0"/>
                </a:lnTo>
                <a:close/>
              </a:path>
            </a:pathLst>
          </a:custGeom>
          <a:blipFill>
            <a:blip r:embed="rId6"/>
            <a:stretch>
              <a:fillRect l="0" t="0" r="0" b="0"/>
            </a:stretch>
          </a:blipFill>
        </p:spPr>
      </p:sp>
      <p:sp>
        <p:nvSpPr>
          <p:cNvPr name="Freeform 14" id="14"/>
          <p:cNvSpPr/>
          <p:nvPr/>
        </p:nvSpPr>
        <p:spPr>
          <a:xfrm flipH="false" flipV="false" rot="0">
            <a:off x="2002323" y="1415783"/>
            <a:ext cx="12472011" cy="8314674"/>
          </a:xfrm>
          <a:custGeom>
            <a:avLst/>
            <a:gdLst/>
            <a:ahLst/>
            <a:cxnLst/>
            <a:rect r="r" b="b" t="t" l="l"/>
            <a:pathLst>
              <a:path h="8314674" w="12472011">
                <a:moveTo>
                  <a:pt x="0" y="0"/>
                </a:moveTo>
                <a:lnTo>
                  <a:pt x="12472011" y="0"/>
                </a:lnTo>
                <a:lnTo>
                  <a:pt x="12472011" y="8314674"/>
                </a:lnTo>
                <a:lnTo>
                  <a:pt x="0" y="8314674"/>
                </a:lnTo>
                <a:lnTo>
                  <a:pt x="0" y="0"/>
                </a:lnTo>
                <a:close/>
              </a:path>
            </a:pathLst>
          </a:custGeom>
          <a:blipFill>
            <a:blip r:embed="rId7"/>
            <a:stretch>
              <a:fillRect l="0" t="0" r="0" b="0"/>
            </a:stretch>
          </a:blipFill>
        </p:spPr>
      </p:sp>
      <p:sp>
        <p:nvSpPr>
          <p:cNvPr name="TextBox 15" id="15"/>
          <p:cNvSpPr txBox="true"/>
          <p:nvPr/>
        </p:nvSpPr>
        <p:spPr>
          <a:xfrm rot="0">
            <a:off x="1282891" y="198118"/>
            <a:ext cx="13390556" cy="830582"/>
          </a:xfrm>
          <a:prstGeom prst="rect">
            <a:avLst/>
          </a:prstGeom>
        </p:spPr>
        <p:txBody>
          <a:bodyPr anchor="t" rtlCol="false" tIns="0" lIns="0" bIns="0" rIns="0">
            <a:spAutoFit/>
          </a:bodyPr>
          <a:lstStyle/>
          <a:p>
            <a:pPr algn="ctr">
              <a:lnSpc>
                <a:spcPts val="6858"/>
              </a:lnSpc>
            </a:pPr>
            <a:r>
              <a:rPr lang="en-US" b="true" sz="4969" spc="487">
                <a:solidFill>
                  <a:srgbClr val="010101"/>
                </a:solidFill>
                <a:latin typeface="Montserrat Bold"/>
                <a:ea typeface="Montserrat Bold"/>
                <a:cs typeface="Montserrat Bold"/>
                <a:sym typeface="Montserrat Bold"/>
              </a:rPr>
              <a:t>VIABILIDAD Y USO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140901" y="3819001"/>
            <a:ext cx="12006198" cy="1745571"/>
          </a:xfrm>
          <a:prstGeom prst="rect">
            <a:avLst/>
          </a:prstGeom>
        </p:spPr>
        <p:txBody>
          <a:bodyPr anchor="t" rtlCol="false" tIns="0" lIns="0" bIns="0" rIns="0">
            <a:spAutoFit/>
          </a:bodyPr>
          <a:lstStyle/>
          <a:p>
            <a:pPr algn="ctr">
              <a:lnSpc>
                <a:spcPts val="14224"/>
              </a:lnSpc>
            </a:pPr>
            <a:r>
              <a:rPr lang="en-US" b="true" sz="10307" spc="1010">
                <a:solidFill>
                  <a:srgbClr val="FFFFFF"/>
                </a:solidFill>
                <a:latin typeface="Montserrat Bold"/>
                <a:ea typeface="Montserrat Bold"/>
                <a:cs typeface="Montserrat Bold"/>
                <a:sym typeface="Montserrat Bold"/>
              </a:rPr>
              <a:t>CAJA NEGRA</a:t>
            </a:r>
          </a:p>
        </p:txBody>
      </p:sp>
      <p:sp>
        <p:nvSpPr>
          <p:cNvPr name="Freeform 4" id="4"/>
          <p:cNvSpPr/>
          <p:nvPr/>
        </p:nvSpPr>
        <p:spPr>
          <a:xfrm flipH="true" flipV="true" rot="0">
            <a:off x="-3801253" y="0"/>
            <a:ext cx="7602505" cy="6745495"/>
          </a:xfrm>
          <a:custGeom>
            <a:avLst/>
            <a:gdLst/>
            <a:ahLst/>
            <a:cxnLst/>
            <a:rect r="r" b="b" t="t" l="l"/>
            <a:pathLst>
              <a:path h="6745495" w="7602505">
                <a:moveTo>
                  <a:pt x="7602506" y="6745495"/>
                </a:moveTo>
                <a:lnTo>
                  <a:pt x="0" y="6745495"/>
                </a:lnTo>
                <a:lnTo>
                  <a:pt x="0" y="0"/>
                </a:lnTo>
                <a:lnTo>
                  <a:pt x="7602506" y="0"/>
                </a:lnTo>
                <a:lnTo>
                  <a:pt x="7602506" y="674549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4486747" y="3541505"/>
            <a:ext cx="7602505" cy="6745495"/>
          </a:xfrm>
          <a:custGeom>
            <a:avLst/>
            <a:gdLst/>
            <a:ahLst/>
            <a:cxnLst/>
            <a:rect r="r" b="b" t="t" l="l"/>
            <a:pathLst>
              <a:path h="6745495" w="7602505">
                <a:moveTo>
                  <a:pt x="7602506" y="0"/>
                </a:moveTo>
                <a:lnTo>
                  <a:pt x="0" y="0"/>
                </a:lnTo>
                <a:lnTo>
                  <a:pt x="0" y="6745495"/>
                </a:lnTo>
                <a:lnTo>
                  <a:pt x="7602506" y="6745495"/>
                </a:lnTo>
                <a:lnTo>
                  <a:pt x="76025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30704" y="-558218"/>
            <a:ext cx="3812227" cy="11299900"/>
            <a:chOff x="0" y="0"/>
            <a:chExt cx="1004043" cy="2976105"/>
          </a:xfrm>
        </p:grpSpPr>
        <p:sp>
          <p:nvSpPr>
            <p:cNvPr name="Freeform 3" id="3"/>
            <p:cNvSpPr/>
            <p:nvPr/>
          </p:nvSpPr>
          <p:spPr>
            <a:xfrm flipH="false" flipV="false" rot="0">
              <a:off x="0" y="0"/>
              <a:ext cx="1004043" cy="2976105"/>
            </a:xfrm>
            <a:custGeom>
              <a:avLst/>
              <a:gdLst/>
              <a:ahLst/>
              <a:cxnLst/>
              <a:rect r="r" b="b" t="t" l="l"/>
              <a:pathLst>
                <a:path h="2976105" w="1004043">
                  <a:moveTo>
                    <a:pt x="0" y="0"/>
                  </a:moveTo>
                  <a:lnTo>
                    <a:pt x="1004043" y="0"/>
                  </a:lnTo>
                  <a:lnTo>
                    <a:pt x="1004043" y="2976105"/>
                  </a:lnTo>
                  <a:lnTo>
                    <a:pt x="0" y="2976105"/>
                  </a:lnTo>
                  <a:close/>
                </a:path>
              </a:pathLst>
            </a:custGeom>
            <a:solidFill>
              <a:srgbClr val="1F3864"/>
            </a:solidFill>
          </p:spPr>
        </p:sp>
        <p:sp>
          <p:nvSpPr>
            <p:cNvPr name="TextBox 4" id="4"/>
            <p:cNvSpPr txBox="true"/>
            <p:nvPr/>
          </p:nvSpPr>
          <p:spPr>
            <a:xfrm>
              <a:off x="0" y="-19050"/>
              <a:ext cx="1004043"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7175201" y="-308512"/>
            <a:ext cx="1112799" cy="10607668"/>
            <a:chOff x="0" y="0"/>
            <a:chExt cx="293083" cy="2793789"/>
          </a:xfrm>
        </p:grpSpPr>
        <p:sp>
          <p:nvSpPr>
            <p:cNvPr name="Freeform 6" id="6"/>
            <p:cNvSpPr/>
            <p:nvPr/>
          </p:nvSpPr>
          <p:spPr>
            <a:xfrm flipH="false" flipV="false" rot="0">
              <a:off x="0" y="0"/>
              <a:ext cx="293083" cy="2793789"/>
            </a:xfrm>
            <a:custGeom>
              <a:avLst/>
              <a:gdLst/>
              <a:ahLst/>
              <a:cxnLst/>
              <a:rect r="r" b="b" t="t" l="l"/>
              <a:pathLst>
                <a:path h="2793789" w="293083">
                  <a:moveTo>
                    <a:pt x="0" y="0"/>
                  </a:moveTo>
                  <a:lnTo>
                    <a:pt x="293083" y="0"/>
                  </a:lnTo>
                  <a:lnTo>
                    <a:pt x="293083" y="2793789"/>
                  </a:lnTo>
                  <a:lnTo>
                    <a:pt x="0" y="2793789"/>
                  </a:lnTo>
                  <a:close/>
                </a:path>
              </a:pathLst>
            </a:custGeom>
            <a:solidFill>
              <a:srgbClr val="1F3864"/>
            </a:solidFill>
          </p:spPr>
        </p:sp>
        <p:sp>
          <p:nvSpPr>
            <p:cNvPr name="TextBox 7" id="7"/>
            <p:cNvSpPr txBox="true"/>
            <p:nvPr/>
          </p:nvSpPr>
          <p:spPr>
            <a:xfrm>
              <a:off x="0" y="-19050"/>
              <a:ext cx="293083" cy="2812839"/>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12799" y="737229"/>
            <a:ext cx="16062402" cy="8812542"/>
          </a:xfrm>
          <a:custGeom>
            <a:avLst/>
            <a:gdLst/>
            <a:ahLst/>
            <a:cxnLst/>
            <a:rect r="r" b="b" t="t" l="l"/>
            <a:pathLst>
              <a:path h="8812542" w="16062402">
                <a:moveTo>
                  <a:pt x="0" y="0"/>
                </a:moveTo>
                <a:lnTo>
                  <a:pt x="16062402" y="0"/>
                </a:lnTo>
                <a:lnTo>
                  <a:pt x="16062402" y="8812542"/>
                </a:lnTo>
                <a:lnTo>
                  <a:pt x="0" y="8812542"/>
                </a:lnTo>
                <a:lnTo>
                  <a:pt x="0" y="0"/>
                </a:lnTo>
                <a:close/>
              </a:path>
            </a:pathLst>
          </a:custGeom>
          <a:blipFill>
            <a:blip r:embed="rId4"/>
            <a:stretch>
              <a:fillRect l="0" t="-386" r="0" b="-386"/>
            </a:stretch>
          </a:blipFill>
        </p:spPr>
      </p:sp>
      <p:sp>
        <p:nvSpPr>
          <p:cNvPr name="TextBox 10" id="10"/>
          <p:cNvSpPr txBox="true"/>
          <p:nvPr/>
        </p:nvSpPr>
        <p:spPr>
          <a:xfrm rot="0">
            <a:off x="3437864" y="7187516"/>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07</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140901" y="2736154"/>
            <a:ext cx="12006198" cy="3545757"/>
          </a:xfrm>
          <a:prstGeom prst="rect">
            <a:avLst/>
          </a:prstGeom>
        </p:spPr>
        <p:txBody>
          <a:bodyPr anchor="t" rtlCol="false" tIns="0" lIns="0" bIns="0" rIns="0">
            <a:spAutoFit/>
          </a:bodyPr>
          <a:lstStyle/>
          <a:p>
            <a:pPr algn="ctr">
              <a:lnSpc>
                <a:spcPts val="14224"/>
              </a:lnSpc>
            </a:pPr>
            <a:r>
              <a:rPr lang="en-US" b="true" sz="10307" spc="1010">
                <a:solidFill>
                  <a:srgbClr val="FFFFFF"/>
                </a:solidFill>
                <a:latin typeface="Montserrat Bold"/>
                <a:ea typeface="Montserrat Bold"/>
                <a:cs typeface="Montserrat Bold"/>
                <a:sym typeface="Montserrat Bold"/>
              </a:rPr>
              <a:t>ESQUEMA DE FUNCIONES</a:t>
            </a:r>
          </a:p>
        </p:txBody>
      </p:sp>
      <p:sp>
        <p:nvSpPr>
          <p:cNvPr name="TextBox 4" id="4"/>
          <p:cNvSpPr txBox="true"/>
          <p:nvPr/>
        </p:nvSpPr>
        <p:spPr>
          <a:xfrm rot="0">
            <a:off x="4995836" y="6224800"/>
            <a:ext cx="8296328" cy="520695"/>
          </a:xfrm>
          <a:prstGeom prst="rect">
            <a:avLst/>
          </a:prstGeom>
        </p:spPr>
        <p:txBody>
          <a:bodyPr anchor="t" rtlCol="false" tIns="0" lIns="0" bIns="0" rIns="0">
            <a:spAutoFit/>
          </a:bodyPr>
          <a:lstStyle/>
          <a:p>
            <a:pPr algn="ctr">
              <a:lnSpc>
                <a:spcPts val="4216"/>
              </a:lnSpc>
            </a:pPr>
            <a:r>
              <a:rPr lang="en-US" sz="3055" spc="299">
                <a:solidFill>
                  <a:srgbClr val="F5FFF5"/>
                </a:solidFill>
                <a:latin typeface="Open Sauce"/>
                <a:ea typeface="Open Sauce"/>
                <a:cs typeface="Open Sauce"/>
                <a:sym typeface="Open Sauce"/>
              </a:rPr>
              <a:t>Version 2.0</a:t>
            </a:r>
          </a:p>
        </p:txBody>
      </p:sp>
      <p:sp>
        <p:nvSpPr>
          <p:cNvPr name="Freeform 5" id="5"/>
          <p:cNvSpPr/>
          <p:nvPr/>
        </p:nvSpPr>
        <p:spPr>
          <a:xfrm flipH="true" flipV="true" rot="0">
            <a:off x="-3801253" y="0"/>
            <a:ext cx="7602505" cy="6745495"/>
          </a:xfrm>
          <a:custGeom>
            <a:avLst/>
            <a:gdLst/>
            <a:ahLst/>
            <a:cxnLst/>
            <a:rect r="r" b="b" t="t" l="l"/>
            <a:pathLst>
              <a:path h="6745495" w="7602505">
                <a:moveTo>
                  <a:pt x="7602506" y="6745495"/>
                </a:moveTo>
                <a:lnTo>
                  <a:pt x="0" y="6745495"/>
                </a:lnTo>
                <a:lnTo>
                  <a:pt x="0" y="0"/>
                </a:lnTo>
                <a:lnTo>
                  <a:pt x="7602506" y="0"/>
                </a:lnTo>
                <a:lnTo>
                  <a:pt x="7602506" y="674549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486747" y="3541505"/>
            <a:ext cx="7602505" cy="6745495"/>
          </a:xfrm>
          <a:custGeom>
            <a:avLst/>
            <a:gdLst/>
            <a:ahLst/>
            <a:cxnLst/>
            <a:rect r="r" b="b" t="t" l="l"/>
            <a:pathLst>
              <a:path h="6745495" w="7602505">
                <a:moveTo>
                  <a:pt x="7602506" y="0"/>
                </a:moveTo>
                <a:lnTo>
                  <a:pt x="0" y="0"/>
                </a:lnTo>
                <a:lnTo>
                  <a:pt x="0" y="6745495"/>
                </a:lnTo>
                <a:lnTo>
                  <a:pt x="7602506" y="6745495"/>
                </a:lnTo>
                <a:lnTo>
                  <a:pt x="76025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30704" y="-558218"/>
            <a:ext cx="3812227" cy="11299900"/>
            <a:chOff x="0" y="0"/>
            <a:chExt cx="1004043" cy="2976105"/>
          </a:xfrm>
        </p:grpSpPr>
        <p:sp>
          <p:nvSpPr>
            <p:cNvPr name="Freeform 3" id="3"/>
            <p:cNvSpPr/>
            <p:nvPr/>
          </p:nvSpPr>
          <p:spPr>
            <a:xfrm flipH="false" flipV="false" rot="0">
              <a:off x="0" y="0"/>
              <a:ext cx="1004043" cy="2976105"/>
            </a:xfrm>
            <a:custGeom>
              <a:avLst/>
              <a:gdLst/>
              <a:ahLst/>
              <a:cxnLst/>
              <a:rect r="r" b="b" t="t" l="l"/>
              <a:pathLst>
                <a:path h="2976105" w="1004043">
                  <a:moveTo>
                    <a:pt x="0" y="0"/>
                  </a:moveTo>
                  <a:lnTo>
                    <a:pt x="1004043" y="0"/>
                  </a:lnTo>
                  <a:lnTo>
                    <a:pt x="1004043" y="2976105"/>
                  </a:lnTo>
                  <a:lnTo>
                    <a:pt x="0" y="2976105"/>
                  </a:lnTo>
                  <a:close/>
                </a:path>
              </a:pathLst>
            </a:custGeom>
            <a:solidFill>
              <a:srgbClr val="1F3864"/>
            </a:solidFill>
          </p:spPr>
        </p:sp>
        <p:sp>
          <p:nvSpPr>
            <p:cNvPr name="TextBox 4" id="4"/>
            <p:cNvSpPr txBox="true"/>
            <p:nvPr/>
          </p:nvSpPr>
          <p:spPr>
            <a:xfrm>
              <a:off x="0" y="-19050"/>
              <a:ext cx="1004043"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6474081" y="-308512"/>
            <a:ext cx="1813919" cy="10607668"/>
            <a:chOff x="0" y="0"/>
            <a:chExt cx="477740" cy="2793789"/>
          </a:xfrm>
        </p:grpSpPr>
        <p:sp>
          <p:nvSpPr>
            <p:cNvPr name="Freeform 6" id="6"/>
            <p:cNvSpPr/>
            <p:nvPr/>
          </p:nvSpPr>
          <p:spPr>
            <a:xfrm flipH="false" flipV="false" rot="0">
              <a:off x="0" y="0"/>
              <a:ext cx="477740" cy="2793789"/>
            </a:xfrm>
            <a:custGeom>
              <a:avLst/>
              <a:gdLst/>
              <a:ahLst/>
              <a:cxnLst/>
              <a:rect r="r" b="b" t="t" l="l"/>
              <a:pathLst>
                <a:path h="2793789" w="477740">
                  <a:moveTo>
                    <a:pt x="0" y="0"/>
                  </a:moveTo>
                  <a:lnTo>
                    <a:pt x="477740" y="0"/>
                  </a:lnTo>
                  <a:lnTo>
                    <a:pt x="477740" y="2793789"/>
                  </a:lnTo>
                  <a:lnTo>
                    <a:pt x="0" y="2793789"/>
                  </a:lnTo>
                  <a:close/>
                </a:path>
              </a:pathLst>
            </a:custGeom>
            <a:solidFill>
              <a:srgbClr val="1F3864"/>
            </a:solidFill>
          </p:spPr>
        </p:sp>
        <p:sp>
          <p:nvSpPr>
            <p:cNvPr name="TextBox 7" id="7"/>
            <p:cNvSpPr txBox="true"/>
            <p:nvPr/>
          </p:nvSpPr>
          <p:spPr>
            <a:xfrm>
              <a:off x="0" y="-19050"/>
              <a:ext cx="477740" cy="2812839"/>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0" y="0"/>
            <a:ext cx="18288000" cy="10299157"/>
          </a:xfrm>
          <a:custGeom>
            <a:avLst/>
            <a:gdLst/>
            <a:ahLst/>
            <a:cxnLst/>
            <a:rect r="r" b="b" t="t" l="l"/>
            <a:pathLst>
              <a:path h="10299157" w="18288000">
                <a:moveTo>
                  <a:pt x="0" y="0"/>
                </a:moveTo>
                <a:lnTo>
                  <a:pt x="18288000" y="0"/>
                </a:lnTo>
                <a:lnTo>
                  <a:pt x="18288000" y="10299157"/>
                </a:lnTo>
                <a:lnTo>
                  <a:pt x="0" y="10299157"/>
                </a:lnTo>
                <a:lnTo>
                  <a:pt x="0" y="0"/>
                </a:lnTo>
                <a:close/>
              </a:path>
            </a:pathLst>
          </a:custGeom>
          <a:blipFill>
            <a:blip r:embed="rId4"/>
            <a:stretch>
              <a:fillRect l="-813" t="0" r="-3228" b="0"/>
            </a:stretch>
          </a:blipFill>
        </p:spPr>
      </p:sp>
      <p:sp>
        <p:nvSpPr>
          <p:cNvPr name="TextBox 10" id="10"/>
          <p:cNvSpPr txBox="true"/>
          <p:nvPr/>
        </p:nvSpPr>
        <p:spPr>
          <a:xfrm rot="0">
            <a:off x="3437864" y="7187516"/>
            <a:ext cx="937219" cy="523875"/>
          </a:xfrm>
          <a:prstGeom prst="rect">
            <a:avLst/>
          </a:prstGeom>
        </p:spPr>
        <p:txBody>
          <a:bodyPr anchor="t" rtlCol="false" tIns="0" lIns="0" bIns="0" rIns="0">
            <a:spAutoFit/>
          </a:bodyPr>
          <a:lstStyle/>
          <a:p>
            <a:pPr algn="ctr">
              <a:lnSpc>
                <a:spcPts val="4166"/>
              </a:lnSpc>
            </a:pPr>
            <a:r>
              <a:rPr lang="en-US" b="true" sz="3471" spc="284">
                <a:solidFill>
                  <a:srgbClr val="FFFFFF"/>
                </a:solidFill>
                <a:latin typeface="Montserrat Bold"/>
                <a:ea typeface="Montserrat Bold"/>
                <a:cs typeface="Montserrat Bold"/>
                <a:sym typeface="Montserrat Bold"/>
              </a:rPr>
              <a:t>07</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140901" y="2736154"/>
            <a:ext cx="12006198" cy="3545796"/>
          </a:xfrm>
          <a:prstGeom prst="rect">
            <a:avLst/>
          </a:prstGeom>
        </p:spPr>
        <p:txBody>
          <a:bodyPr anchor="t" rtlCol="false" tIns="0" lIns="0" bIns="0" rIns="0">
            <a:spAutoFit/>
          </a:bodyPr>
          <a:lstStyle/>
          <a:p>
            <a:pPr algn="ctr">
              <a:lnSpc>
                <a:spcPts val="14224"/>
              </a:lnSpc>
            </a:pPr>
            <a:r>
              <a:rPr lang="en-US" b="true" sz="10307" spc="1010">
                <a:solidFill>
                  <a:srgbClr val="FFFFFF"/>
                </a:solidFill>
                <a:latin typeface="Montserrat Bold"/>
                <a:ea typeface="Montserrat Bold"/>
                <a:cs typeface="Montserrat Bold"/>
                <a:sym typeface="Montserrat Bold"/>
              </a:rPr>
              <a:t>MATRIZ MORFOLOGICA</a:t>
            </a:r>
          </a:p>
        </p:txBody>
      </p:sp>
      <p:sp>
        <p:nvSpPr>
          <p:cNvPr name="TextBox 4" id="4"/>
          <p:cNvSpPr txBox="true"/>
          <p:nvPr/>
        </p:nvSpPr>
        <p:spPr>
          <a:xfrm rot="0">
            <a:off x="4995836" y="6224800"/>
            <a:ext cx="8296328" cy="520695"/>
          </a:xfrm>
          <a:prstGeom prst="rect">
            <a:avLst/>
          </a:prstGeom>
        </p:spPr>
        <p:txBody>
          <a:bodyPr anchor="t" rtlCol="false" tIns="0" lIns="0" bIns="0" rIns="0">
            <a:spAutoFit/>
          </a:bodyPr>
          <a:lstStyle/>
          <a:p>
            <a:pPr algn="ctr">
              <a:lnSpc>
                <a:spcPts val="4216"/>
              </a:lnSpc>
            </a:pPr>
            <a:r>
              <a:rPr lang="en-US" sz="3055" spc="299">
                <a:solidFill>
                  <a:srgbClr val="F5FFF5"/>
                </a:solidFill>
                <a:latin typeface="Open Sauce"/>
                <a:ea typeface="Open Sauce"/>
                <a:cs typeface="Open Sauce"/>
                <a:sym typeface="Open Sauce"/>
              </a:rPr>
              <a:t>Version 2.0</a:t>
            </a:r>
          </a:p>
        </p:txBody>
      </p:sp>
      <p:sp>
        <p:nvSpPr>
          <p:cNvPr name="Freeform 5" id="5"/>
          <p:cNvSpPr/>
          <p:nvPr/>
        </p:nvSpPr>
        <p:spPr>
          <a:xfrm flipH="true" flipV="true" rot="0">
            <a:off x="-3801253" y="0"/>
            <a:ext cx="7602505" cy="6745495"/>
          </a:xfrm>
          <a:custGeom>
            <a:avLst/>
            <a:gdLst/>
            <a:ahLst/>
            <a:cxnLst/>
            <a:rect r="r" b="b" t="t" l="l"/>
            <a:pathLst>
              <a:path h="6745495" w="7602505">
                <a:moveTo>
                  <a:pt x="7602506" y="6745495"/>
                </a:moveTo>
                <a:lnTo>
                  <a:pt x="0" y="6745495"/>
                </a:lnTo>
                <a:lnTo>
                  <a:pt x="0" y="0"/>
                </a:lnTo>
                <a:lnTo>
                  <a:pt x="7602506" y="0"/>
                </a:lnTo>
                <a:lnTo>
                  <a:pt x="7602506" y="674549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486747" y="3541505"/>
            <a:ext cx="7602505" cy="6745495"/>
          </a:xfrm>
          <a:custGeom>
            <a:avLst/>
            <a:gdLst/>
            <a:ahLst/>
            <a:cxnLst/>
            <a:rect r="r" b="b" t="t" l="l"/>
            <a:pathLst>
              <a:path h="6745495" w="7602505">
                <a:moveTo>
                  <a:pt x="7602506" y="0"/>
                </a:moveTo>
                <a:lnTo>
                  <a:pt x="0" y="0"/>
                </a:lnTo>
                <a:lnTo>
                  <a:pt x="0" y="6745495"/>
                </a:lnTo>
                <a:lnTo>
                  <a:pt x="7602506" y="6745495"/>
                </a:lnTo>
                <a:lnTo>
                  <a:pt x="76025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2289228" cy="2303103"/>
          </a:xfrm>
          <a:custGeom>
            <a:avLst/>
            <a:gdLst/>
            <a:ahLst/>
            <a:cxnLst/>
            <a:rect r="r" b="b" t="t" l="l"/>
            <a:pathLst>
              <a:path h="2303103" w="2289228">
                <a:moveTo>
                  <a:pt x="0" y="0"/>
                </a:moveTo>
                <a:lnTo>
                  <a:pt x="2289228" y="0"/>
                </a:lnTo>
                <a:lnTo>
                  <a:pt x="2289228" y="2303103"/>
                </a:lnTo>
                <a:lnTo>
                  <a:pt x="0" y="2303103"/>
                </a:lnTo>
                <a:lnTo>
                  <a:pt x="0" y="0"/>
                </a:lnTo>
                <a:close/>
              </a:path>
            </a:pathLst>
          </a:custGeom>
          <a:blipFill>
            <a:blip r:embed="rId2"/>
            <a:stretch>
              <a:fillRect l="0" t="0" r="0" b="0"/>
            </a:stretch>
          </a:blipFill>
        </p:spPr>
      </p:sp>
      <p:sp>
        <p:nvSpPr>
          <p:cNvPr name="Freeform 3" id="3"/>
          <p:cNvSpPr/>
          <p:nvPr/>
        </p:nvSpPr>
        <p:spPr>
          <a:xfrm flipH="false" flipV="false" rot="0">
            <a:off x="3728121" y="1028700"/>
            <a:ext cx="2104358" cy="2303103"/>
          </a:xfrm>
          <a:custGeom>
            <a:avLst/>
            <a:gdLst/>
            <a:ahLst/>
            <a:cxnLst/>
            <a:rect r="r" b="b" t="t" l="l"/>
            <a:pathLst>
              <a:path h="2303103" w="2104358">
                <a:moveTo>
                  <a:pt x="0" y="0"/>
                </a:moveTo>
                <a:lnTo>
                  <a:pt x="2104358" y="0"/>
                </a:lnTo>
                <a:lnTo>
                  <a:pt x="2104358" y="2303103"/>
                </a:lnTo>
                <a:lnTo>
                  <a:pt x="0" y="2303103"/>
                </a:lnTo>
                <a:lnTo>
                  <a:pt x="0" y="0"/>
                </a:lnTo>
                <a:close/>
              </a:path>
            </a:pathLst>
          </a:custGeom>
          <a:blipFill>
            <a:blip r:embed="rId3"/>
            <a:stretch>
              <a:fillRect l="0" t="0" r="0" b="0"/>
            </a:stretch>
          </a:blipFill>
        </p:spPr>
      </p:sp>
      <p:sp>
        <p:nvSpPr>
          <p:cNvPr name="Freeform 4" id="4"/>
          <p:cNvSpPr/>
          <p:nvPr/>
        </p:nvSpPr>
        <p:spPr>
          <a:xfrm flipH="false" flipV="false" rot="0">
            <a:off x="6242054" y="1028700"/>
            <a:ext cx="2364112" cy="2303103"/>
          </a:xfrm>
          <a:custGeom>
            <a:avLst/>
            <a:gdLst/>
            <a:ahLst/>
            <a:cxnLst/>
            <a:rect r="r" b="b" t="t" l="l"/>
            <a:pathLst>
              <a:path h="2303103" w="2364112">
                <a:moveTo>
                  <a:pt x="0" y="0"/>
                </a:moveTo>
                <a:lnTo>
                  <a:pt x="2364112" y="0"/>
                </a:lnTo>
                <a:lnTo>
                  <a:pt x="2364112" y="2303103"/>
                </a:lnTo>
                <a:lnTo>
                  <a:pt x="0" y="2303103"/>
                </a:lnTo>
                <a:lnTo>
                  <a:pt x="0" y="0"/>
                </a:lnTo>
                <a:close/>
              </a:path>
            </a:pathLst>
          </a:custGeom>
          <a:blipFill>
            <a:blip r:embed="rId4"/>
            <a:stretch>
              <a:fillRect l="0" t="0" r="0" b="0"/>
            </a:stretch>
          </a:blipFill>
        </p:spPr>
      </p:sp>
      <p:sp>
        <p:nvSpPr>
          <p:cNvPr name="Freeform 5" id="5"/>
          <p:cNvSpPr/>
          <p:nvPr/>
        </p:nvSpPr>
        <p:spPr>
          <a:xfrm flipH="false" flipV="false" rot="0">
            <a:off x="9144000" y="1028700"/>
            <a:ext cx="2331988" cy="3789481"/>
          </a:xfrm>
          <a:custGeom>
            <a:avLst/>
            <a:gdLst/>
            <a:ahLst/>
            <a:cxnLst/>
            <a:rect r="r" b="b" t="t" l="l"/>
            <a:pathLst>
              <a:path h="3789481" w="2331988">
                <a:moveTo>
                  <a:pt x="0" y="0"/>
                </a:moveTo>
                <a:lnTo>
                  <a:pt x="2331988" y="0"/>
                </a:lnTo>
                <a:lnTo>
                  <a:pt x="2331988" y="3789481"/>
                </a:lnTo>
                <a:lnTo>
                  <a:pt x="0" y="3789481"/>
                </a:lnTo>
                <a:lnTo>
                  <a:pt x="0" y="0"/>
                </a:lnTo>
                <a:close/>
              </a:path>
            </a:pathLst>
          </a:custGeom>
          <a:blipFill>
            <a:blip r:embed="rId5"/>
            <a:stretch>
              <a:fillRect l="0" t="0" r="0" b="0"/>
            </a:stretch>
          </a:blipFill>
        </p:spPr>
      </p:sp>
      <p:sp>
        <p:nvSpPr>
          <p:cNvPr name="Freeform 6" id="6"/>
          <p:cNvSpPr/>
          <p:nvPr/>
        </p:nvSpPr>
        <p:spPr>
          <a:xfrm flipH="false" flipV="false" rot="0">
            <a:off x="11885563" y="1028700"/>
            <a:ext cx="2232957" cy="2303103"/>
          </a:xfrm>
          <a:custGeom>
            <a:avLst/>
            <a:gdLst/>
            <a:ahLst/>
            <a:cxnLst/>
            <a:rect r="r" b="b" t="t" l="l"/>
            <a:pathLst>
              <a:path h="2303103" w="2232957">
                <a:moveTo>
                  <a:pt x="0" y="0"/>
                </a:moveTo>
                <a:lnTo>
                  <a:pt x="2232958" y="0"/>
                </a:lnTo>
                <a:lnTo>
                  <a:pt x="2232958" y="2303103"/>
                </a:lnTo>
                <a:lnTo>
                  <a:pt x="0" y="2303103"/>
                </a:lnTo>
                <a:lnTo>
                  <a:pt x="0" y="0"/>
                </a:lnTo>
                <a:close/>
              </a:path>
            </a:pathLst>
          </a:custGeom>
          <a:blipFill>
            <a:blip r:embed="rId6"/>
            <a:stretch>
              <a:fillRect l="0" t="0" r="0" b="0"/>
            </a:stretch>
          </a:blipFill>
        </p:spPr>
      </p:sp>
      <p:sp>
        <p:nvSpPr>
          <p:cNvPr name="Freeform 7" id="7"/>
          <p:cNvSpPr/>
          <p:nvPr/>
        </p:nvSpPr>
        <p:spPr>
          <a:xfrm flipH="false" flipV="false" rot="0">
            <a:off x="14528096" y="1028700"/>
            <a:ext cx="2731204" cy="2288306"/>
          </a:xfrm>
          <a:custGeom>
            <a:avLst/>
            <a:gdLst/>
            <a:ahLst/>
            <a:cxnLst/>
            <a:rect r="r" b="b" t="t" l="l"/>
            <a:pathLst>
              <a:path h="2288306" w="2731204">
                <a:moveTo>
                  <a:pt x="0" y="0"/>
                </a:moveTo>
                <a:lnTo>
                  <a:pt x="2731204" y="0"/>
                </a:lnTo>
                <a:lnTo>
                  <a:pt x="2731204" y="2288306"/>
                </a:lnTo>
                <a:lnTo>
                  <a:pt x="0" y="2288306"/>
                </a:lnTo>
                <a:lnTo>
                  <a:pt x="0" y="0"/>
                </a:lnTo>
                <a:close/>
              </a:path>
            </a:pathLst>
          </a:custGeom>
          <a:blipFill>
            <a:blip r:embed="rId7"/>
            <a:stretch>
              <a:fillRect l="0" t="0" r="0" b="0"/>
            </a:stretch>
          </a:blipFill>
        </p:spPr>
      </p:sp>
      <p:sp>
        <p:nvSpPr>
          <p:cNvPr name="Freeform 8" id="8"/>
          <p:cNvSpPr/>
          <p:nvPr/>
        </p:nvSpPr>
        <p:spPr>
          <a:xfrm flipH="false" flipV="false" rot="0">
            <a:off x="1028700" y="3648153"/>
            <a:ext cx="2699421" cy="2730272"/>
          </a:xfrm>
          <a:custGeom>
            <a:avLst/>
            <a:gdLst/>
            <a:ahLst/>
            <a:cxnLst/>
            <a:rect r="r" b="b" t="t" l="l"/>
            <a:pathLst>
              <a:path h="2730272" w="2699421">
                <a:moveTo>
                  <a:pt x="0" y="0"/>
                </a:moveTo>
                <a:lnTo>
                  <a:pt x="2699421" y="0"/>
                </a:lnTo>
                <a:lnTo>
                  <a:pt x="2699421" y="2730271"/>
                </a:lnTo>
                <a:lnTo>
                  <a:pt x="0" y="2730271"/>
                </a:lnTo>
                <a:lnTo>
                  <a:pt x="0" y="0"/>
                </a:lnTo>
                <a:close/>
              </a:path>
            </a:pathLst>
          </a:custGeom>
          <a:blipFill>
            <a:blip r:embed="rId8"/>
            <a:stretch>
              <a:fillRect l="0" t="0" r="0" b="0"/>
            </a:stretch>
          </a:blipFill>
        </p:spPr>
      </p:sp>
      <p:sp>
        <p:nvSpPr>
          <p:cNvPr name="Freeform 9" id="9"/>
          <p:cNvSpPr/>
          <p:nvPr/>
        </p:nvSpPr>
        <p:spPr>
          <a:xfrm flipH="false" flipV="false" rot="0">
            <a:off x="3728121" y="3648153"/>
            <a:ext cx="2672303" cy="2575714"/>
          </a:xfrm>
          <a:custGeom>
            <a:avLst/>
            <a:gdLst/>
            <a:ahLst/>
            <a:cxnLst/>
            <a:rect r="r" b="b" t="t" l="l"/>
            <a:pathLst>
              <a:path h="2575714" w="2672303">
                <a:moveTo>
                  <a:pt x="0" y="0"/>
                </a:moveTo>
                <a:lnTo>
                  <a:pt x="2672304" y="0"/>
                </a:lnTo>
                <a:lnTo>
                  <a:pt x="2672304" y="2575714"/>
                </a:lnTo>
                <a:lnTo>
                  <a:pt x="0" y="2575714"/>
                </a:lnTo>
                <a:lnTo>
                  <a:pt x="0" y="0"/>
                </a:lnTo>
                <a:close/>
              </a:path>
            </a:pathLst>
          </a:custGeom>
          <a:blipFill>
            <a:blip r:embed="rId9"/>
            <a:stretch>
              <a:fillRect l="0" t="0" r="0" b="0"/>
            </a:stretch>
          </a:blipFill>
        </p:spPr>
      </p:sp>
      <p:sp>
        <p:nvSpPr>
          <p:cNvPr name="Freeform 10" id="10"/>
          <p:cNvSpPr/>
          <p:nvPr/>
        </p:nvSpPr>
        <p:spPr>
          <a:xfrm flipH="false" flipV="false" rot="0">
            <a:off x="6663338" y="3975967"/>
            <a:ext cx="1942828" cy="2247900"/>
          </a:xfrm>
          <a:custGeom>
            <a:avLst/>
            <a:gdLst/>
            <a:ahLst/>
            <a:cxnLst/>
            <a:rect r="r" b="b" t="t" l="l"/>
            <a:pathLst>
              <a:path h="2247900" w="1942828">
                <a:moveTo>
                  <a:pt x="0" y="0"/>
                </a:moveTo>
                <a:lnTo>
                  <a:pt x="1942828" y="0"/>
                </a:lnTo>
                <a:lnTo>
                  <a:pt x="1942828" y="2247900"/>
                </a:lnTo>
                <a:lnTo>
                  <a:pt x="0" y="2247900"/>
                </a:lnTo>
                <a:lnTo>
                  <a:pt x="0" y="0"/>
                </a:lnTo>
                <a:close/>
              </a:path>
            </a:pathLst>
          </a:custGeom>
          <a:blipFill>
            <a:blip r:embed="rId10"/>
            <a:stretch>
              <a:fillRect l="0" t="0" r="0" b="0"/>
            </a:stretch>
          </a:blipFill>
        </p:spPr>
      </p:sp>
      <p:sp>
        <p:nvSpPr>
          <p:cNvPr name="Freeform 11" id="11"/>
          <p:cNvSpPr/>
          <p:nvPr/>
        </p:nvSpPr>
        <p:spPr>
          <a:xfrm flipH="false" flipV="false" rot="0">
            <a:off x="11885563" y="3648153"/>
            <a:ext cx="2232957" cy="2432329"/>
          </a:xfrm>
          <a:custGeom>
            <a:avLst/>
            <a:gdLst/>
            <a:ahLst/>
            <a:cxnLst/>
            <a:rect r="r" b="b" t="t" l="l"/>
            <a:pathLst>
              <a:path h="2432329" w="2232957">
                <a:moveTo>
                  <a:pt x="0" y="0"/>
                </a:moveTo>
                <a:lnTo>
                  <a:pt x="2232958" y="0"/>
                </a:lnTo>
                <a:lnTo>
                  <a:pt x="2232958" y="2432328"/>
                </a:lnTo>
                <a:lnTo>
                  <a:pt x="0" y="2432328"/>
                </a:lnTo>
                <a:lnTo>
                  <a:pt x="0" y="0"/>
                </a:lnTo>
                <a:close/>
              </a:path>
            </a:pathLst>
          </a:custGeom>
          <a:blipFill>
            <a:blip r:embed="rId11"/>
            <a:stretch>
              <a:fillRect l="0" t="0" r="0" b="0"/>
            </a:stretch>
          </a:blipFill>
        </p:spPr>
      </p:sp>
      <p:sp>
        <p:nvSpPr>
          <p:cNvPr name="Freeform 12" id="12"/>
          <p:cNvSpPr/>
          <p:nvPr/>
        </p:nvSpPr>
        <p:spPr>
          <a:xfrm flipH="false" flipV="false" rot="0">
            <a:off x="14738630" y="3757132"/>
            <a:ext cx="2520670" cy="2772737"/>
          </a:xfrm>
          <a:custGeom>
            <a:avLst/>
            <a:gdLst/>
            <a:ahLst/>
            <a:cxnLst/>
            <a:rect r="r" b="b" t="t" l="l"/>
            <a:pathLst>
              <a:path h="2772737" w="2520670">
                <a:moveTo>
                  <a:pt x="0" y="0"/>
                </a:moveTo>
                <a:lnTo>
                  <a:pt x="2520670" y="0"/>
                </a:lnTo>
                <a:lnTo>
                  <a:pt x="2520670" y="2772736"/>
                </a:lnTo>
                <a:lnTo>
                  <a:pt x="0" y="2772736"/>
                </a:lnTo>
                <a:lnTo>
                  <a:pt x="0" y="0"/>
                </a:lnTo>
                <a:close/>
              </a:path>
            </a:pathLst>
          </a:custGeom>
          <a:blipFill>
            <a:blip r:embed="rId12"/>
            <a:stretch>
              <a:fillRect l="0" t="0" r="0" b="0"/>
            </a:stretch>
          </a:blipFill>
        </p:spPr>
      </p:sp>
      <p:sp>
        <p:nvSpPr>
          <p:cNvPr name="Freeform 13" id="13"/>
          <p:cNvSpPr/>
          <p:nvPr/>
        </p:nvSpPr>
        <p:spPr>
          <a:xfrm flipH="false" flipV="false" rot="0">
            <a:off x="1028700" y="6692749"/>
            <a:ext cx="2622117" cy="2220059"/>
          </a:xfrm>
          <a:custGeom>
            <a:avLst/>
            <a:gdLst/>
            <a:ahLst/>
            <a:cxnLst/>
            <a:rect r="r" b="b" t="t" l="l"/>
            <a:pathLst>
              <a:path h="2220059" w="2622117">
                <a:moveTo>
                  <a:pt x="0" y="0"/>
                </a:moveTo>
                <a:lnTo>
                  <a:pt x="2622117" y="0"/>
                </a:lnTo>
                <a:lnTo>
                  <a:pt x="2622117" y="2220060"/>
                </a:lnTo>
                <a:lnTo>
                  <a:pt x="0" y="2220060"/>
                </a:lnTo>
                <a:lnTo>
                  <a:pt x="0" y="0"/>
                </a:lnTo>
                <a:close/>
              </a:path>
            </a:pathLst>
          </a:custGeom>
          <a:blipFill>
            <a:blip r:embed="rId13"/>
            <a:stretch>
              <a:fillRect l="0" t="0" r="0" b="0"/>
            </a:stretch>
          </a:blipFill>
        </p:spPr>
      </p:sp>
      <p:sp>
        <p:nvSpPr>
          <p:cNvPr name="Freeform 14" id="14"/>
          <p:cNvSpPr/>
          <p:nvPr/>
        </p:nvSpPr>
        <p:spPr>
          <a:xfrm flipH="false" flipV="false" rot="0">
            <a:off x="3806443" y="6941142"/>
            <a:ext cx="2593981" cy="1723274"/>
          </a:xfrm>
          <a:custGeom>
            <a:avLst/>
            <a:gdLst/>
            <a:ahLst/>
            <a:cxnLst/>
            <a:rect r="r" b="b" t="t" l="l"/>
            <a:pathLst>
              <a:path h="1723274" w="2593981">
                <a:moveTo>
                  <a:pt x="0" y="0"/>
                </a:moveTo>
                <a:lnTo>
                  <a:pt x="2593982" y="0"/>
                </a:lnTo>
                <a:lnTo>
                  <a:pt x="2593982" y="1723274"/>
                </a:lnTo>
                <a:lnTo>
                  <a:pt x="0" y="1723274"/>
                </a:lnTo>
                <a:lnTo>
                  <a:pt x="0" y="0"/>
                </a:lnTo>
                <a:close/>
              </a:path>
            </a:pathLst>
          </a:custGeom>
          <a:blipFill>
            <a:blip r:embed="rId14"/>
            <a:stretch>
              <a:fillRect l="0" t="0" r="0" b="0"/>
            </a:stretch>
          </a:blipFill>
        </p:spPr>
      </p:sp>
      <p:sp>
        <p:nvSpPr>
          <p:cNvPr name="Freeform 15" id="15"/>
          <p:cNvSpPr/>
          <p:nvPr/>
        </p:nvSpPr>
        <p:spPr>
          <a:xfrm flipH="false" flipV="false" rot="0">
            <a:off x="6663338" y="6871567"/>
            <a:ext cx="2290463" cy="2041242"/>
          </a:xfrm>
          <a:custGeom>
            <a:avLst/>
            <a:gdLst/>
            <a:ahLst/>
            <a:cxnLst/>
            <a:rect r="r" b="b" t="t" l="l"/>
            <a:pathLst>
              <a:path h="2041242" w="2290463">
                <a:moveTo>
                  <a:pt x="0" y="0"/>
                </a:moveTo>
                <a:lnTo>
                  <a:pt x="2290463" y="0"/>
                </a:lnTo>
                <a:lnTo>
                  <a:pt x="2290463" y="2041242"/>
                </a:lnTo>
                <a:lnTo>
                  <a:pt x="0" y="2041242"/>
                </a:lnTo>
                <a:lnTo>
                  <a:pt x="0" y="0"/>
                </a:lnTo>
                <a:close/>
              </a:path>
            </a:pathLst>
          </a:custGeom>
          <a:blipFill>
            <a:blip r:embed="rId15"/>
            <a:stretch>
              <a:fillRect l="0" t="0" r="0" b="0"/>
            </a:stretch>
          </a:blipFill>
        </p:spPr>
      </p:sp>
      <p:sp>
        <p:nvSpPr>
          <p:cNvPr name="Freeform 16" id="16"/>
          <p:cNvSpPr/>
          <p:nvPr/>
        </p:nvSpPr>
        <p:spPr>
          <a:xfrm flipH="false" flipV="false" rot="0">
            <a:off x="9383415" y="6713407"/>
            <a:ext cx="3365729" cy="2357561"/>
          </a:xfrm>
          <a:custGeom>
            <a:avLst/>
            <a:gdLst/>
            <a:ahLst/>
            <a:cxnLst/>
            <a:rect r="r" b="b" t="t" l="l"/>
            <a:pathLst>
              <a:path h="2357561" w="3365729">
                <a:moveTo>
                  <a:pt x="0" y="0"/>
                </a:moveTo>
                <a:lnTo>
                  <a:pt x="3365729" y="0"/>
                </a:lnTo>
                <a:lnTo>
                  <a:pt x="3365729" y="2357561"/>
                </a:lnTo>
                <a:lnTo>
                  <a:pt x="0" y="2357561"/>
                </a:lnTo>
                <a:lnTo>
                  <a:pt x="0" y="0"/>
                </a:lnTo>
                <a:close/>
              </a:path>
            </a:pathLst>
          </a:custGeom>
          <a:blipFill>
            <a:blip r:embed="rId1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740166" y="3743862"/>
            <a:ext cx="14807668" cy="1745571"/>
          </a:xfrm>
          <a:prstGeom prst="rect">
            <a:avLst/>
          </a:prstGeom>
        </p:spPr>
        <p:txBody>
          <a:bodyPr anchor="t" rtlCol="false" tIns="0" lIns="0" bIns="0" rIns="0">
            <a:spAutoFit/>
          </a:bodyPr>
          <a:lstStyle/>
          <a:p>
            <a:pPr algn="ctr">
              <a:lnSpc>
                <a:spcPts val="14224"/>
              </a:lnSpc>
            </a:pPr>
            <a:r>
              <a:rPr lang="en-US" b="true" sz="10307" spc="1010">
                <a:solidFill>
                  <a:srgbClr val="FFFFFF"/>
                </a:solidFill>
                <a:latin typeface="Montserrat Bold"/>
                <a:ea typeface="Montserrat Bold"/>
                <a:cs typeface="Montserrat Bold"/>
                <a:sym typeface="Montserrat Bold"/>
              </a:rPr>
              <a:t>BOCETO</a:t>
            </a:r>
          </a:p>
        </p:txBody>
      </p:sp>
      <p:sp>
        <p:nvSpPr>
          <p:cNvPr name="Freeform 4" id="4"/>
          <p:cNvSpPr/>
          <p:nvPr/>
        </p:nvSpPr>
        <p:spPr>
          <a:xfrm flipH="true" flipV="true" rot="0">
            <a:off x="-3801253" y="0"/>
            <a:ext cx="7602505" cy="6745495"/>
          </a:xfrm>
          <a:custGeom>
            <a:avLst/>
            <a:gdLst/>
            <a:ahLst/>
            <a:cxnLst/>
            <a:rect r="r" b="b" t="t" l="l"/>
            <a:pathLst>
              <a:path h="6745495" w="7602505">
                <a:moveTo>
                  <a:pt x="7602506" y="6745495"/>
                </a:moveTo>
                <a:lnTo>
                  <a:pt x="0" y="6745495"/>
                </a:lnTo>
                <a:lnTo>
                  <a:pt x="0" y="0"/>
                </a:lnTo>
                <a:lnTo>
                  <a:pt x="7602506" y="0"/>
                </a:lnTo>
                <a:lnTo>
                  <a:pt x="7602506" y="674549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4486747" y="3541505"/>
            <a:ext cx="7602505" cy="6745495"/>
          </a:xfrm>
          <a:custGeom>
            <a:avLst/>
            <a:gdLst/>
            <a:ahLst/>
            <a:cxnLst/>
            <a:rect r="r" b="b" t="t" l="l"/>
            <a:pathLst>
              <a:path h="6745495" w="7602505">
                <a:moveTo>
                  <a:pt x="7602506" y="0"/>
                </a:moveTo>
                <a:lnTo>
                  <a:pt x="0" y="0"/>
                </a:lnTo>
                <a:lnTo>
                  <a:pt x="0" y="6745495"/>
                </a:lnTo>
                <a:lnTo>
                  <a:pt x="7602506" y="6745495"/>
                </a:lnTo>
                <a:lnTo>
                  <a:pt x="76025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641239"/>
            <a:chOff x="0" y="0"/>
            <a:chExt cx="4816593" cy="432261"/>
          </a:xfrm>
        </p:grpSpPr>
        <p:sp>
          <p:nvSpPr>
            <p:cNvPr name="Freeform 3" id="3"/>
            <p:cNvSpPr/>
            <p:nvPr/>
          </p:nvSpPr>
          <p:spPr>
            <a:xfrm flipH="false" flipV="false" rot="0">
              <a:off x="0" y="0"/>
              <a:ext cx="4816592" cy="432261"/>
            </a:xfrm>
            <a:custGeom>
              <a:avLst/>
              <a:gdLst/>
              <a:ahLst/>
              <a:cxnLst/>
              <a:rect r="r" b="b" t="t" l="l"/>
              <a:pathLst>
                <a:path h="432261" w="4816592">
                  <a:moveTo>
                    <a:pt x="0" y="0"/>
                  </a:moveTo>
                  <a:lnTo>
                    <a:pt x="4816592" y="0"/>
                  </a:lnTo>
                  <a:lnTo>
                    <a:pt x="4816592" y="432261"/>
                  </a:lnTo>
                  <a:lnTo>
                    <a:pt x="0" y="432261"/>
                  </a:lnTo>
                  <a:close/>
                </a:path>
              </a:pathLst>
            </a:custGeom>
            <a:solidFill>
              <a:srgbClr val="1F3864"/>
            </a:solidFill>
          </p:spPr>
        </p:sp>
        <p:sp>
          <p:nvSpPr>
            <p:cNvPr name="TextBox 4" id="4"/>
            <p:cNvSpPr txBox="true"/>
            <p:nvPr/>
          </p:nvSpPr>
          <p:spPr>
            <a:xfrm>
              <a:off x="0" y="-19050"/>
              <a:ext cx="4816593" cy="451311"/>
            </a:xfrm>
            <a:prstGeom prst="rect">
              <a:avLst/>
            </a:prstGeom>
          </p:spPr>
          <p:txBody>
            <a:bodyPr anchor="ctr" rtlCol="false" tIns="50800" lIns="50800" bIns="50800" rIns="50800"/>
            <a:lstStyle/>
            <a:p>
              <a:pPr algn="ctr">
                <a:lnSpc>
                  <a:spcPts val="2859"/>
                </a:lnSpc>
              </a:pPr>
            </a:p>
          </p:txBody>
        </p:sp>
      </p:grpSp>
      <p:sp>
        <p:nvSpPr>
          <p:cNvPr name="Freeform 5" id="5"/>
          <p:cNvSpPr/>
          <p:nvPr/>
        </p:nvSpPr>
        <p:spPr>
          <a:xfrm flipH="false" flipV="false" rot="0">
            <a:off x="-1586068" y="-1808676"/>
            <a:ext cx="3172137" cy="4114800"/>
          </a:xfrm>
          <a:custGeom>
            <a:avLst/>
            <a:gdLst/>
            <a:ahLst/>
            <a:cxnLst/>
            <a:rect r="r" b="b" t="t" l="l"/>
            <a:pathLst>
              <a:path h="4114800" w="3172137">
                <a:moveTo>
                  <a:pt x="0" y="0"/>
                </a:moveTo>
                <a:lnTo>
                  <a:pt x="3172136" y="0"/>
                </a:lnTo>
                <a:lnTo>
                  <a:pt x="317213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430899" y="-2832405"/>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466336" y="8460579"/>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77491" y="2731551"/>
            <a:ext cx="4836740" cy="6458376"/>
          </a:xfrm>
          <a:custGeom>
            <a:avLst/>
            <a:gdLst/>
            <a:ahLst/>
            <a:cxnLst/>
            <a:rect r="r" b="b" t="t" l="l"/>
            <a:pathLst>
              <a:path h="6458376" w="4836740">
                <a:moveTo>
                  <a:pt x="0" y="0"/>
                </a:moveTo>
                <a:lnTo>
                  <a:pt x="4836740" y="0"/>
                </a:lnTo>
                <a:lnTo>
                  <a:pt x="4836740" y="6458376"/>
                </a:lnTo>
                <a:lnTo>
                  <a:pt x="0" y="6458376"/>
                </a:lnTo>
                <a:lnTo>
                  <a:pt x="0" y="0"/>
                </a:lnTo>
                <a:close/>
              </a:path>
            </a:pathLst>
          </a:custGeom>
          <a:blipFill>
            <a:blip r:embed="rId8"/>
            <a:stretch>
              <a:fillRect l="0" t="-5841" r="0" b="0"/>
            </a:stretch>
          </a:blipFill>
        </p:spPr>
      </p:sp>
      <p:sp>
        <p:nvSpPr>
          <p:cNvPr name="Freeform 9" id="9"/>
          <p:cNvSpPr/>
          <p:nvPr/>
        </p:nvSpPr>
        <p:spPr>
          <a:xfrm flipH="false" flipV="false" rot="0">
            <a:off x="6939481" y="3430248"/>
            <a:ext cx="2818505" cy="4450255"/>
          </a:xfrm>
          <a:custGeom>
            <a:avLst/>
            <a:gdLst/>
            <a:ahLst/>
            <a:cxnLst/>
            <a:rect r="r" b="b" t="t" l="l"/>
            <a:pathLst>
              <a:path h="4450255" w="2818505">
                <a:moveTo>
                  <a:pt x="0" y="0"/>
                </a:moveTo>
                <a:lnTo>
                  <a:pt x="2818504" y="0"/>
                </a:lnTo>
                <a:lnTo>
                  <a:pt x="2818504" y="4450255"/>
                </a:lnTo>
                <a:lnTo>
                  <a:pt x="0" y="4450255"/>
                </a:lnTo>
                <a:lnTo>
                  <a:pt x="0" y="0"/>
                </a:lnTo>
                <a:close/>
              </a:path>
            </a:pathLst>
          </a:custGeom>
          <a:blipFill>
            <a:blip r:embed="rId9"/>
            <a:stretch>
              <a:fillRect l="0" t="0" r="-70665" b="0"/>
            </a:stretch>
          </a:blipFill>
        </p:spPr>
      </p:sp>
      <p:grpSp>
        <p:nvGrpSpPr>
          <p:cNvPr name="Group 10" id="10"/>
          <p:cNvGrpSpPr/>
          <p:nvPr/>
        </p:nvGrpSpPr>
        <p:grpSpPr>
          <a:xfrm rot="-5400000">
            <a:off x="2829828" y="5745987"/>
            <a:ext cx="7330513" cy="47625"/>
            <a:chOff x="0" y="0"/>
            <a:chExt cx="1930670" cy="12543"/>
          </a:xfrm>
        </p:grpSpPr>
        <p:sp>
          <p:nvSpPr>
            <p:cNvPr name="Freeform 11" id="11"/>
            <p:cNvSpPr/>
            <p:nvPr/>
          </p:nvSpPr>
          <p:spPr>
            <a:xfrm flipH="false" flipV="false" rot="0">
              <a:off x="0" y="0"/>
              <a:ext cx="1930670" cy="12543"/>
            </a:xfrm>
            <a:custGeom>
              <a:avLst/>
              <a:gdLst/>
              <a:ahLst/>
              <a:cxnLst/>
              <a:rect r="r" b="b" t="t" l="l"/>
              <a:pathLst>
                <a:path h="12543" w="1930670">
                  <a:moveTo>
                    <a:pt x="0" y="0"/>
                  </a:moveTo>
                  <a:lnTo>
                    <a:pt x="1930670" y="0"/>
                  </a:lnTo>
                  <a:lnTo>
                    <a:pt x="1930670" y="12543"/>
                  </a:lnTo>
                  <a:lnTo>
                    <a:pt x="0" y="12543"/>
                  </a:lnTo>
                  <a:close/>
                </a:path>
              </a:pathLst>
            </a:custGeom>
            <a:solidFill>
              <a:srgbClr val="1C5739"/>
            </a:solidFill>
          </p:spPr>
        </p:sp>
        <p:sp>
          <p:nvSpPr>
            <p:cNvPr name="TextBox 12" id="12"/>
            <p:cNvSpPr txBox="true"/>
            <p:nvPr/>
          </p:nvSpPr>
          <p:spPr>
            <a:xfrm>
              <a:off x="0" y="-19050"/>
              <a:ext cx="1930670" cy="31593"/>
            </a:xfrm>
            <a:prstGeom prst="rect">
              <a:avLst/>
            </a:prstGeom>
          </p:spPr>
          <p:txBody>
            <a:bodyPr anchor="ctr" rtlCol="false" tIns="50800" lIns="50800" bIns="50800" rIns="50800"/>
            <a:lstStyle/>
            <a:p>
              <a:pPr algn="ctr">
                <a:lnSpc>
                  <a:spcPts val="2859"/>
                </a:lnSpc>
              </a:pPr>
            </a:p>
          </p:txBody>
        </p:sp>
      </p:grpSp>
      <p:grpSp>
        <p:nvGrpSpPr>
          <p:cNvPr name="Group 13" id="13"/>
          <p:cNvGrpSpPr/>
          <p:nvPr/>
        </p:nvGrpSpPr>
        <p:grpSpPr>
          <a:xfrm rot="-5400000">
            <a:off x="8847795" y="5631563"/>
            <a:ext cx="7330513" cy="47625"/>
            <a:chOff x="0" y="0"/>
            <a:chExt cx="1930670" cy="12543"/>
          </a:xfrm>
        </p:grpSpPr>
        <p:sp>
          <p:nvSpPr>
            <p:cNvPr name="Freeform 14" id="14"/>
            <p:cNvSpPr/>
            <p:nvPr/>
          </p:nvSpPr>
          <p:spPr>
            <a:xfrm flipH="false" flipV="false" rot="0">
              <a:off x="0" y="0"/>
              <a:ext cx="1930670" cy="12543"/>
            </a:xfrm>
            <a:custGeom>
              <a:avLst/>
              <a:gdLst/>
              <a:ahLst/>
              <a:cxnLst/>
              <a:rect r="r" b="b" t="t" l="l"/>
              <a:pathLst>
                <a:path h="12543" w="1930670">
                  <a:moveTo>
                    <a:pt x="0" y="0"/>
                  </a:moveTo>
                  <a:lnTo>
                    <a:pt x="1930670" y="0"/>
                  </a:lnTo>
                  <a:lnTo>
                    <a:pt x="1930670" y="12543"/>
                  </a:lnTo>
                  <a:lnTo>
                    <a:pt x="0" y="12543"/>
                  </a:lnTo>
                  <a:close/>
                </a:path>
              </a:pathLst>
            </a:custGeom>
            <a:solidFill>
              <a:srgbClr val="1C5739"/>
            </a:solidFill>
          </p:spPr>
        </p:sp>
        <p:sp>
          <p:nvSpPr>
            <p:cNvPr name="TextBox 15" id="15"/>
            <p:cNvSpPr txBox="true"/>
            <p:nvPr/>
          </p:nvSpPr>
          <p:spPr>
            <a:xfrm>
              <a:off x="0" y="-19050"/>
              <a:ext cx="1930670" cy="31593"/>
            </a:xfrm>
            <a:prstGeom prst="rect">
              <a:avLst/>
            </a:prstGeom>
          </p:spPr>
          <p:txBody>
            <a:bodyPr anchor="ctr" rtlCol="false" tIns="50800" lIns="50800" bIns="50800" rIns="50800"/>
            <a:lstStyle/>
            <a:p>
              <a:pPr algn="ctr">
                <a:lnSpc>
                  <a:spcPts val="2859"/>
                </a:lnSpc>
              </a:pPr>
            </a:p>
          </p:txBody>
        </p:sp>
      </p:grpSp>
      <p:sp>
        <p:nvSpPr>
          <p:cNvPr name="Freeform 16" id="16"/>
          <p:cNvSpPr/>
          <p:nvPr/>
        </p:nvSpPr>
        <p:spPr>
          <a:xfrm flipH="false" flipV="false" rot="0">
            <a:off x="9757985" y="3443416"/>
            <a:ext cx="2483604" cy="4423919"/>
          </a:xfrm>
          <a:custGeom>
            <a:avLst/>
            <a:gdLst/>
            <a:ahLst/>
            <a:cxnLst/>
            <a:rect r="r" b="b" t="t" l="l"/>
            <a:pathLst>
              <a:path h="4423919" w="2483604">
                <a:moveTo>
                  <a:pt x="0" y="0"/>
                </a:moveTo>
                <a:lnTo>
                  <a:pt x="2483604" y="0"/>
                </a:lnTo>
                <a:lnTo>
                  <a:pt x="2483604" y="4423919"/>
                </a:lnTo>
                <a:lnTo>
                  <a:pt x="0" y="4423919"/>
                </a:lnTo>
                <a:lnTo>
                  <a:pt x="0" y="0"/>
                </a:lnTo>
                <a:close/>
              </a:path>
            </a:pathLst>
          </a:custGeom>
          <a:blipFill>
            <a:blip r:embed="rId10"/>
            <a:stretch>
              <a:fillRect l="0" t="0" r="0" b="0"/>
            </a:stretch>
          </a:blipFill>
        </p:spPr>
      </p:sp>
      <p:sp>
        <p:nvSpPr>
          <p:cNvPr name="Freeform 17" id="17"/>
          <p:cNvSpPr/>
          <p:nvPr/>
        </p:nvSpPr>
        <p:spPr>
          <a:xfrm flipH="false" flipV="false" rot="0">
            <a:off x="12632468" y="2455610"/>
            <a:ext cx="5471432" cy="7740311"/>
          </a:xfrm>
          <a:custGeom>
            <a:avLst/>
            <a:gdLst/>
            <a:ahLst/>
            <a:cxnLst/>
            <a:rect r="r" b="b" t="t" l="l"/>
            <a:pathLst>
              <a:path h="7740311" w="5471432">
                <a:moveTo>
                  <a:pt x="0" y="0"/>
                </a:moveTo>
                <a:lnTo>
                  <a:pt x="5471432" y="0"/>
                </a:lnTo>
                <a:lnTo>
                  <a:pt x="5471432" y="7740311"/>
                </a:lnTo>
                <a:lnTo>
                  <a:pt x="0" y="7740311"/>
                </a:lnTo>
                <a:lnTo>
                  <a:pt x="0" y="0"/>
                </a:lnTo>
                <a:close/>
              </a:path>
            </a:pathLst>
          </a:custGeom>
          <a:blipFill>
            <a:blip r:embed="rId11"/>
            <a:stretch>
              <a:fillRect l="0" t="0" r="0" b="0"/>
            </a:stretch>
          </a:blipFill>
        </p:spPr>
      </p:sp>
      <p:sp>
        <p:nvSpPr>
          <p:cNvPr name="TextBox 18" id="18"/>
          <p:cNvSpPr txBox="true"/>
          <p:nvPr/>
        </p:nvSpPr>
        <p:spPr>
          <a:xfrm rot="0">
            <a:off x="3785846" y="171902"/>
            <a:ext cx="10713642" cy="1334135"/>
          </a:xfrm>
          <a:prstGeom prst="rect">
            <a:avLst/>
          </a:prstGeom>
        </p:spPr>
        <p:txBody>
          <a:bodyPr anchor="t" rtlCol="false" tIns="0" lIns="0" bIns="0" rIns="0">
            <a:spAutoFit/>
          </a:bodyPr>
          <a:lstStyle/>
          <a:p>
            <a:pPr algn="ctr">
              <a:lnSpc>
                <a:spcPts val="10886"/>
              </a:lnSpc>
            </a:pPr>
            <a:r>
              <a:rPr lang="en-US" b="true" sz="7888" spc="773">
                <a:solidFill>
                  <a:srgbClr val="FFFFFF"/>
                </a:solidFill>
                <a:latin typeface="Montserrat Bold"/>
                <a:ea typeface="Montserrat Bold"/>
                <a:cs typeface="Montserrat Bold"/>
                <a:sym typeface="Montserrat Bold"/>
              </a:rPr>
              <a:t>Versiones</a:t>
            </a:r>
          </a:p>
        </p:txBody>
      </p:sp>
      <p:sp>
        <p:nvSpPr>
          <p:cNvPr name="TextBox 19" id="19"/>
          <p:cNvSpPr txBox="true"/>
          <p:nvPr/>
        </p:nvSpPr>
        <p:spPr>
          <a:xfrm rot="0">
            <a:off x="1368775" y="1865369"/>
            <a:ext cx="5150121" cy="678373"/>
          </a:xfrm>
          <a:prstGeom prst="rect">
            <a:avLst/>
          </a:prstGeom>
        </p:spPr>
        <p:txBody>
          <a:bodyPr anchor="t" rtlCol="false" tIns="0" lIns="0" bIns="0" rIns="0">
            <a:spAutoFit/>
          </a:bodyPr>
          <a:lstStyle/>
          <a:p>
            <a:pPr algn="l" marL="0" indent="0" lvl="0">
              <a:lnSpc>
                <a:spcPts val="4727"/>
              </a:lnSpc>
              <a:spcBef>
                <a:spcPct val="0"/>
              </a:spcBef>
            </a:pPr>
            <a:r>
              <a:rPr lang="en-US" b="true" sz="5765" spc="17">
                <a:solidFill>
                  <a:srgbClr val="231F20"/>
                </a:solidFill>
                <a:latin typeface="Montserrat Bold"/>
                <a:ea typeface="Montserrat Bold"/>
                <a:cs typeface="Montserrat Bold"/>
                <a:sym typeface="Montserrat Bold"/>
              </a:rPr>
              <a:t>Boceto C</a:t>
            </a:r>
          </a:p>
        </p:txBody>
      </p:sp>
      <p:sp>
        <p:nvSpPr>
          <p:cNvPr name="TextBox 20" id="20"/>
          <p:cNvSpPr txBox="true"/>
          <p:nvPr/>
        </p:nvSpPr>
        <p:spPr>
          <a:xfrm rot="0">
            <a:off x="7548572" y="1922192"/>
            <a:ext cx="5150121" cy="678373"/>
          </a:xfrm>
          <a:prstGeom prst="rect">
            <a:avLst/>
          </a:prstGeom>
        </p:spPr>
        <p:txBody>
          <a:bodyPr anchor="t" rtlCol="false" tIns="0" lIns="0" bIns="0" rIns="0">
            <a:spAutoFit/>
          </a:bodyPr>
          <a:lstStyle/>
          <a:p>
            <a:pPr algn="l" marL="0" indent="0" lvl="0">
              <a:lnSpc>
                <a:spcPts val="4727"/>
              </a:lnSpc>
              <a:spcBef>
                <a:spcPct val="0"/>
              </a:spcBef>
            </a:pPr>
            <a:r>
              <a:rPr lang="en-US" b="true" sz="5765" spc="17">
                <a:solidFill>
                  <a:srgbClr val="231F20"/>
                </a:solidFill>
                <a:latin typeface="Montserrat Bold"/>
                <a:ea typeface="Montserrat Bold"/>
                <a:cs typeface="Montserrat Bold"/>
                <a:sym typeface="Montserrat Bold"/>
              </a:rPr>
              <a:t>Boceto B</a:t>
            </a:r>
          </a:p>
        </p:txBody>
      </p:sp>
      <p:sp>
        <p:nvSpPr>
          <p:cNvPr name="TextBox 21" id="21"/>
          <p:cNvSpPr txBox="true"/>
          <p:nvPr/>
        </p:nvSpPr>
        <p:spPr>
          <a:xfrm rot="0">
            <a:off x="13409638" y="1922192"/>
            <a:ext cx="5150121" cy="678373"/>
          </a:xfrm>
          <a:prstGeom prst="rect">
            <a:avLst/>
          </a:prstGeom>
        </p:spPr>
        <p:txBody>
          <a:bodyPr anchor="t" rtlCol="false" tIns="0" lIns="0" bIns="0" rIns="0">
            <a:spAutoFit/>
          </a:bodyPr>
          <a:lstStyle/>
          <a:p>
            <a:pPr algn="l" marL="0" indent="0" lvl="0">
              <a:lnSpc>
                <a:spcPts val="4727"/>
              </a:lnSpc>
              <a:spcBef>
                <a:spcPct val="0"/>
              </a:spcBef>
            </a:pPr>
            <a:r>
              <a:rPr lang="en-US" b="true" sz="5765" spc="17">
                <a:solidFill>
                  <a:srgbClr val="231F20"/>
                </a:solidFill>
                <a:latin typeface="Montserrat Bold"/>
                <a:ea typeface="Montserrat Bold"/>
                <a:cs typeface="Montserrat Bold"/>
                <a:sym typeface="Montserrat Bold"/>
              </a:rPr>
              <a:t>Boceto 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632562" y="4434042"/>
            <a:ext cx="8244332" cy="3147805"/>
          </a:xfrm>
          <a:prstGeom prst="rect">
            <a:avLst/>
          </a:prstGeom>
        </p:spPr>
        <p:txBody>
          <a:bodyPr anchor="t" rtlCol="false" tIns="0" lIns="0" bIns="0" rIns="0">
            <a:spAutoFit/>
          </a:bodyPr>
          <a:lstStyle/>
          <a:p>
            <a:pPr algn="l" marL="0" indent="0" lvl="0">
              <a:lnSpc>
                <a:spcPts val="2794"/>
              </a:lnSpc>
              <a:spcBef>
                <a:spcPct val="0"/>
              </a:spcBef>
            </a:pPr>
            <a:r>
              <a:rPr lang="en-US" sz="1862" spc="270">
                <a:solidFill>
                  <a:srgbClr val="231F20"/>
                </a:solidFill>
                <a:latin typeface="Open Sauce"/>
                <a:ea typeface="Open Sauce"/>
                <a:cs typeface="Open Sauce"/>
                <a:sym typeface="Open Sauce"/>
              </a:rPr>
              <a:t>El usuario sostiene CrackScan con una mano y apunta la cámara hacia la grieta en el concreto. Presiona el pulsador momentáneo (6) para capturar la imagen, iluminando la zona con el flash LED (10) si hay poca luz. Con el botón correspondiente activa el GPS, registrando la ubicación exacta de la grieta. Los datos (imagen + coordenadas) se transmiten por IoT hacia una aplicación externa, donde se procesan y almacenan para el monitoreo estructural.</a:t>
            </a:r>
          </a:p>
        </p:txBody>
      </p:sp>
      <p:sp>
        <p:nvSpPr>
          <p:cNvPr name="Freeform 3" id="3"/>
          <p:cNvSpPr/>
          <p:nvPr/>
        </p:nvSpPr>
        <p:spPr>
          <a:xfrm flipH="false" flipV="false" rot="0">
            <a:off x="16322124"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2059222" y="-798391"/>
            <a:ext cx="4118443" cy="3654183"/>
          </a:xfrm>
          <a:custGeom>
            <a:avLst/>
            <a:gdLst/>
            <a:ahLst/>
            <a:cxnLst/>
            <a:rect r="r" b="b" t="t" l="l"/>
            <a:pathLst>
              <a:path h="3654183" w="4118443">
                <a:moveTo>
                  <a:pt x="4118444" y="3654182"/>
                </a:moveTo>
                <a:lnTo>
                  <a:pt x="0" y="3654182"/>
                </a:lnTo>
                <a:lnTo>
                  <a:pt x="0" y="0"/>
                </a:lnTo>
                <a:lnTo>
                  <a:pt x="4118444" y="0"/>
                </a:lnTo>
                <a:lnTo>
                  <a:pt x="4118444" y="36541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0"/>
            <a:ext cx="7271623" cy="10287000"/>
          </a:xfrm>
          <a:custGeom>
            <a:avLst/>
            <a:gdLst/>
            <a:ahLst/>
            <a:cxnLst/>
            <a:rect r="r" b="b" t="t" l="l"/>
            <a:pathLst>
              <a:path h="10287000" w="7271623">
                <a:moveTo>
                  <a:pt x="0" y="0"/>
                </a:moveTo>
                <a:lnTo>
                  <a:pt x="7271623" y="0"/>
                </a:lnTo>
                <a:lnTo>
                  <a:pt x="7271623" y="10287000"/>
                </a:lnTo>
                <a:lnTo>
                  <a:pt x="0" y="10287000"/>
                </a:lnTo>
                <a:lnTo>
                  <a:pt x="0" y="0"/>
                </a:lnTo>
                <a:close/>
              </a:path>
            </a:pathLst>
          </a:custGeom>
          <a:blipFill>
            <a:blip r:embed="rId4"/>
            <a:stretch>
              <a:fillRect l="0" t="0" r="0" b="0"/>
            </a:stretch>
          </a:blipFill>
        </p:spPr>
      </p:sp>
      <p:sp>
        <p:nvSpPr>
          <p:cNvPr name="TextBox 6" id="6"/>
          <p:cNvSpPr txBox="true"/>
          <p:nvPr/>
        </p:nvSpPr>
        <p:spPr>
          <a:xfrm rot="0">
            <a:off x="8632562" y="2449157"/>
            <a:ext cx="7521781" cy="1536457"/>
          </a:xfrm>
          <a:prstGeom prst="rect">
            <a:avLst/>
          </a:prstGeom>
        </p:spPr>
        <p:txBody>
          <a:bodyPr anchor="t" rtlCol="false" tIns="0" lIns="0" bIns="0" rIns="0">
            <a:spAutoFit/>
          </a:bodyPr>
          <a:lstStyle/>
          <a:p>
            <a:pPr algn="l" marL="0" indent="0" lvl="0">
              <a:lnSpc>
                <a:spcPts val="5996"/>
              </a:lnSpc>
              <a:spcBef>
                <a:spcPct val="0"/>
              </a:spcBef>
            </a:pPr>
            <a:r>
              <a:rPr lang="en-US" b="true" sz="5765" spc="17">
                <a:solidFill>
                  <a:srgbClr val="231F20"/>
                </a:solidFill>
                <a:latin typeface="Montserrat Bold"/>
                <a:ea typeface="Montserrat Bold"/>
                <a:cs typeface="Montserrat Bold"/>
                <a:sym typeface="Montserrat Bold"/>
              </a:rPr>
              <a:t>¿Cómo interactua con el mundo real?</a:t>
            </a:r>
          </a:p>
        </p:txBody>
      </p:sp>
      <p:sp>
        <p:nvSpPr>
          <p:cNvPr name="TextBox 7" id="7"/>
          <p:cNvSpPr txBox="true"/>
          <p:nvPr/>
        </p:nvSpPr>
        <p:spPr>
          <a:xfrm rot="0">
            <a:off x="7441531" y="85916"/>
            <a:ext cx="6051525" cy="376507"/>
          </a:xfrm>
          <a:prstGeom prst="rect">
            <a:avLst/>
          </a:prstGeom>
        </p:spPr>
        <p:txBody>
          <a:bodyPr anchor="t" rtlCol="false" tIns="0" lIns="0" bIns="0" rIns="0">
            <a:spAutoFit/>
          </a:bodyPr>
          <a:lstStyle/>
          <a:p>
            <a:pPr algn="l" marL="0" indent="0" lvl="0">
              <a:lnSpc>
                <a:spcPts val="3199"/>
              </a:lnSpc>
              <a:spcBef>
                <a:spcPct val="0"/>
              </a:spcBef>
            </a:pPr>
            <a:r>
              <a:rPr lang="en-US" b="true" sz="2318" spc="227">
                <a:solidFill>
                  <a:srgbClr val="397D5A">
                    <a:alpha val="66667"/>
                  </a:srgbClr>
                </a:solidFill>
                <a:latin typeface="Open Sauce Bold"/>
                <a:ea typeface="Open Sauce Bold"/>
                <a:cs typeface="Open Sauce Bold"/>
                <a:sym typeface="Open Sauce Bold"/>
              </a:rPr>
              <a:t>→ Boceto ganador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740166" y="3743862"/>
            <a:ext cx="14807668" cy="1745571"/>
          </a:xfrm>
          <a:prstGeom prst="rect">
            <a:avLst/>
          </a:prstGeom>
        </p:spPr>
        <p:txBody>
          <a:bodyPr anchor="t" rtlCol="false" tIns="0" lIns="0" bIns="0" rIns="0">
            <a:spAutoFit/>
          </a:bodyPr>
          <a:lstStyle/>
          <a:p>
            <a:pPr algn="ctr">
              <a:lnSpc>
                <a:spcPts val="14224"/>
              </a:lnSpc>
            </a:pPr>
            <a:r>
              <a:rPr lang="en-US" b="true" sz="10307" spc="1010">
                <a:solidFill>
                  <a:srgbClr val="FFFFFF"/>
                </a:solidFill>
                <a:latin typeface="Montserrat Bold"/>
                <a:ea typeface="Montserrat Bold"/>
                <a:cs typeface="Montserrat Bold"/>
                <a:sym typeface="Montserrat Bold"/>
              </a:rPr>
              <a:t>MODELADO 3D</a:t>
            </a:r>
          </a:p>
        </p:txBody>
      </p:sp>
      <p:sp>
        <p:nvSpPr>
          <p:cNvPr name="TextBox 4" id="4"/>
          <p:cNvSpPr txBox="true"/>
          <p:nvPr/>
        </p:nvSpPr>
        <p:spPr>
          <a:xfrm rot="0">
            <a:off x="4995836" y="5292275"/>
            <a:ext cx="8296328" cy="520695"/>
          </a:xfrm>
          <a:prstGeom prst="rect">
            <a:avLst/>
          </a:prstGeom>
        </p:spPr>
        <p:txBody>
          <a:bodyPr anchor="t" rtlCol="false" tIns="0" lIns="0" bIns="0" rIns="0">
            <a:spAutoFit/>
          </a:bodyPr>
          <a:lstStyle/>
          <a:p>
            <a:pPr algn="ctr">
              <a:lnSpc>
                <a:spcPts val="4216"/>
              </a:lnSpc>
            </a:pPr>
            <a:r>
              <a:rPr lang="en-US" sz="3055" spc="299">
                <a:solidFill>
                  <a:srgbClr val="F5FFF5"/>
                </a:solidFill>
                <a:latin typeface="Open Sauce"/>
                <a:ea typeface="Open Sauce"/>
                <a:cs typeface="Open Sauce"/>
                <a:sym typeface="Open Sauce"/>
              </a:rPr>
              <a:t>Diseño 2.0</a:t>
            </a:r>
          </a:p>
        </p:txBody>
      </p:sp>
      <p:sp>
        <p:nvSpPr>
          <p:cNvPr name="Freeform 5" id="5"/>
          <p:cNvSpPr/>
          <p:nvPr/>
        </p:nvSpPr>
        <p:spPr>
          <a:xfrm flipH="true" flipV="true" rot="0">
            <a:off x="-3801253" y="0"/>
            <a:ext cx="7602505" cy="6745495"/>
          </a:xfrm>
          <a:custGeom>
            <a:avLst/>
            <a:gdLst/>
            <a:ahLst/>
            <a:cxnLst/>
            <a:rect r="r" b="b" t="t" l="l"/>
            <a:pathLst>
              <a:path h="6745495" w="7602505">
                <a:moveTo>
                  <a:pt x="7602506" y="6745495"/>
                </a:moveTo>
                <a:lnTo>
                  <a:pt x="0" y="6745495"/>
                </a:lnTo>
                <a:lnTo>
                  <a:pt x="0" y="0"/>
                </a:lnTo>
                <a:lnTo>
                  <a:pt x="7602506" y="0"/>
                </a:lnTo>
                <a:lnTo>
                  <a:pt x="7602506" y="674549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486747" y="3541505"/>
            <a:ext cx="7602505" cy="6745495"/>
          </a:xfrm>
          <a:custGeom>
            <a:avLst/>
            <a:gdLst/>
            <a:ahLst/>
            <a:cxnLst/>
            <a:rect r="r" b="b" t="t" l="l"/>
            <a:pathLst>
              <a:path h="6745495" w="7602505">
                <a:moveTo>
                  <a:pt x="7602506" y="0"/>
                </a:moveTo>
                <a:lnTo>
                  <a:pt x="0" y="0"/>
                </a:lnTo>
                <a:lnTo>
                  <a:pt x="0" y="6745495"/>
                </a:lnTo>
                <a:lnTo>
                  <a:pt x="7602506" y="6745495"/>
                </a:lnTo>
                <a:lnTo>
                  <a:pt x="760250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289716" y="232233"/>
            <a:ext cx="7264401" cy="6719977"/>
          </a:xfrm>
          <a:custGeom>
            <a:avLst/>
            <a:gdLst/>
            <a:ahLst/>
            <a:cxnLst/>
            <a:rect r="r" b="b" t="t" l="l"/>
            <a:pathLst>
              <a:path h="6719977" w="7264401">
                <a:moveTo>
                  <a:pt x="0" y="0"/>
                </a:moveTo>
                <a:lnTo>
                  <a:pt x="7264401" y="0"/>
                </a:lnTo>
                <a:lnTo>
                  <a:pt x="7264401" y="6719978"/>
                </a:lnTo>
                <a:lnTo>
                  <a:pt x="0" y="6719978"/>
                </a:lnTo>
                <a:lnTo>
                  <a:pt x="0" y="0"/>
                </a:lnTo>
                <a:close/>
              </a:path>
            </a:pathLst>
          </a:custGeom>
          <a:blipFill>
            <a:blip r:embed="rId2"/>
            <a:stretch>
              <a:fillRect l="0" t="0" r="0" b="0"/>
            </a:stretch>
          </a:blipFill>
        </p:spPr>
      </p:sp>
      <p:sp>
        <p:nvSpPr>
          <p:cNvPr name="Freeform 3" id="3"/>
          <p:cNvSpPr/>
          <p:nvPr/>
        </p:nvSpPr>
        <p:spPr>
          <a:xfrm flipH="false" flipV="false" rot="0">
            <a:off x="1254179" y="281599"/>
            <a:ext cx="5524388" cy="5033563"/>
          </a:xfrm>
          <a:custGeom>
            <a:avLst/>
            <a:gdLst/>
            <a:ahLst/>
            <a:cxnLst/>
            <a:rect r="r" b="b" t="t" l="l"/>
            <a:pathLst>
              <a:path h="5033563" w="5524388">
                <a:moveTo>
                  <a:pt x="0" y="0"/>
                </a:moveTo>
                <a:lnTo>
                  <a:pt x="5524387" y="0"/>
                </a:lnTo>
                <a:lnTo>
                  <a:pt x="5524387" y="5033563"/>
                </a:lnTo>
                <a:lnTo>
                  <a:pt x="0" y="5033563"/>
                </a:lnTo>
                <a:lnTo>
                  <a:pt x="0" y="0"/>
                </a:lnTo>
                <a:close/>
              </a:path>
            </a:pathLst>
          </a:custGeom>
          <a:blipFill>
            <a:blip r:embed="rId3"/>
            <a:stretch>
              <a:fillRect l="0" t="0" r="0" b="0"/>
            </a:stretch>
          </a:blipFill>
        </p:spPr>
      </p:sp>
      <p:sp>
        <p:nvSpPr>
          <p:cNvPr name="Freeform 4" id="4"/>
          <p:cNvSpPr/>
          <p:nvPr/>
        </p:nvSpPr>
        <p:spPr>
          <a:xfrm flipH="false" flipV="false" rot="0">
            <a:off x="385913" y="281599"/>
            <a:ext cx="1285575" cy="1285575"/>
          </a:xfrm>
          <a:custGeom>
            <a:avLst/>
            <a:gdLst/>
            <a:ahLst/>
            <a:cxnLst/>
            <a:rect r="r" b="b" t="t" l="l"/>
            <a:pathLst>
              <a:path h="1285575" w="1285575">
                <a:moveTo>
                  <a:pt x="0" y="0"/>
                </a:moveTo>
                <a:lnTo>
                  <a:pt x="1285574" y="0"/>
                </a:lnTo>
                <a:lnTo>
                  <a:pt x="1285574" y="1285574"/>
                </a:lnTo>
                <a:lnTo>
                  <a:pt x="0" y="1285574"/>
                </a:lnTo>
                <a:lnTo>
                  <a:pt x="0" y="0"/>
                </a:lnTo>
                <a:close/>
              </a:path>
            </a:pathLst>
          </a:custGeom>
          <a:blipFill>
            <a:blip r:embed="rId4">
              <a:alphaModFix amt="27000"/>
            </a:blip>
            <a:stretch>
              <a:fillRect l="0" t="0" r="0" b="0"/>
            </a:stretch>
          </a:blipFill>
        </p:spPr>
      </p:sp>
      <p:sp>
        <p:nvSpPr>
          <p:cNvPr name="Freeform 5" id="5"/>
          <p:cNvSpPr/>
          <p:nvPr/>
        </p:nvSpPr>
        <p:spPr>
          <a:xfrm flipH="false" flipV="false" rot="0">
            <a:off x="1004436" y="5340593"/>
            <a:ext cx="5104478" cy="4475861"/>
          </a:xfrm>
          <a:custGeom>
            <a:avLst/>
            <a:gdLst/>
            <a:ahLst/>
            <a:cxnLst/>
            <a:rect r="r" b="b" t="t" l="l"/>
            <a:pathLst>
              <a:path h="4475861" w="5104478">
                <a:moveTo>
                  <a:pt x="0" y="0"/>
                </a:moveTo>
                <a:lnTo>
                  <a:pt x="5104478" y="0"/>
                </a:lnTo>
                <a:lnTo>
                  <a:pt x="5104478" y="4475862"/>
                </a:lnTo>
                <a:lnTo>
                  <a:pt x="0" y="4475862"/>
                </a:lnTo>
                <a:lnTo>
                  <a:pt x="0" y="0"/>
                </a:lnTo>
                <a:close/>
              </a:path>
            </a:pathLst>
          </a:custGeom>
          <a:blipFill>
            <a:blip r:embed="rId5"/>
            <a:stretch>
              <a:fillRect l="0" t="-4120" r="0" b="-3205"/>
            </a:stretch>
          </a:blipFill>
        </p:spPr>
      </p:sp>
      <p:sp>
        <p:nvSpPr>
          <p:cNvPr name="TextBox 6" id="6"/>
          <p:cNvSpPr txBox="true"/>
          <p:nvPr/>
        </p:nvSpPr>
        <p:spPr>
          <a:xfrm rot="0">
            <a:off x="1743721" y="203658"/>
            <a:ext cx="3465904" cy="376507"/>
          </a:xfrm>
          <a:prstGeom prst="rect">
            <a:avLst/>
          </a:prstGeom>
        </p:spPr>
        <p:txBody>
          <a:bodyPr anchor="t" rtlCol="false" tIns="0" lIns="0" bIns="0" rIns="0">
            <a:spAutoFit/>
          </a:bodyPr>
          <a:lstStyle/>
          <a:p>
            <a:pPr algn="l" marL="0" indent="0" lvl="0">
              <a:lnSpc>
                <a:spcPts val="3199"/>
              </a:lnSpc>
              <a:spcBef>
                <a:spcPct val="0"/>
              </a:spcBef>
            </a:pPr>
            <a:r>
              <a:rPr lang="en-US" b="true" sz="2318" spc="227">
                <a:solidFill>
                  <a:srgbClr val="397D5A"/>
                </a:solidFill>
                <a:latin typeface="Open Sauce Bold"/>
                <a:ea typeface="Open Sauce Bold"/>
                <a:cs typeface="Open Sauce Bold"/>
                <a:sym typeface="Open Sauce Bold"/>
              </a:rPr>
              <a:t>♦Esamblado:</a:t>
            </a:r>
          </a:p>
        </p:txBody>
      </p:sp>
      <p:sp>
        <p:nvSpPr>
          <p:cNvPr name="TextBox 7" id="7"/>
          <p:cNvSpPr txBox="true"/>
          <p:nvPr/>
        </p:nvSpPr>
        <p:spPr>
          <a:xfrm rot="0">
            <a:off x="894121" y="5395164"/>
            <a:ext cx="3465904" cy="376507"/>
          </a:xfrm>
          <a:prstGeom prst="rect">
            <a:avLst/>
          </a:prstGeom>
        </p:spPr>
        <p:txBody>
          <a:bodyPr anchor="t" rtlCol="false" tIns="0" lIns="0" bIns="0" rIns="0">
            <a:spAutoFit/>
          </a:bodyPr>
          <a:lstStyle/>
          <a:p>
            <a:pPr algn="l" marL="0" indent="0" lvl="0">
              <a:lnSpc>
                <a:spcPts val="3199"/>
              </a:lnSpc>
              <a:spcBef>
                <a:spcPct val="0"/>
              </a:spcBef>
            </a:pPr>
            <a:r>
              <a:rPr lang="en-US" b="true" sz="2318" spc="227">
                <a:solidFill>
                  <a:srgbClr val="397D5A"/>
                </a:solidFill>
                <a:latin typeface="Open Sauce Bold"/>
                <a:ea typeface="Open Sauce Bold"/>
                <a:cs typeface="Open Sauce Bold"/>
                <a:sym typeface="Open Sauce Bold"/>
              </a:rPr>
              <a:t>♦Parte trasera:</a:t>
            </a:r>
          </a:p>
        </p:txBody>
      </p:sp>
      <p:sp>
        <p:nvSpPr>
          <p:cNvPr name="TextBox 8" id="8"/>
          <p:cNvSpPr txBox="true"/>
          <p:nvPr/>
        </p:nvSpPr>
        <p:spPr>
          <a:xfrm rot="0">
            <a:off x="6854766" y="203658"/>
            <a:ext cx="3782140" cy="376507"/>
          </a:xfrm>
          <a:prstGeom prst="rect">
            <a:avLst/>
          </a:prstGeom>
        </p:spPr>
        <p:txBody>
          <a:bodyPr anchor="t" rtlCol="false" tIns="0" lIns="0" bIns="0" rIns="0">
            <a:spAutoFit/>
          </a:bodyPr>
          <a:lstStyle/>
          <a:p>
            <a:pPr algn="l" marL="0" indent="0" lvl="0">
              <a:lnSpc>
                <a:spcPts val="3199"/>
              </a:lnSpc>
              <a:spcBef>
                <a:spcPct val="0"/>
              </a:spcBef>
            </a:pPr>
            <a:r>
              <a:rPr lang="en-US" b="true" sz="2318" spc="227">
                <a:solidFill>
                  <a:srgbClr val="397D5A"/>
                </a:solidFill>
                <a:latin typeface="Open Sauce Bold"/>
                <a:ea typeface="Open Sauce Bold"/>
                <a:cs typeface="Open Sauce Bold"/>
                <a:sym typeface="Open Sauce Bold"/>
              </a:rPr>
              <a:t>♦Partes extendidas:</a:t>
            </a:r>
          </a:p>
        </p:txBody>
      </p:sp>
      <p:sp>
        <p:nvSpPr>
          <p:cNvPr name="Freeform 9" id="9"/>
          <p:cNvSpPr/>
          <p:nvPr/>
        </p:nvSpPr>
        <p:spPr>
          <a:xfrm flipH="false" flipV="false" rot="0">
            <a:off x="16322124"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true" rot="0">
            <a:off x="-2059222" y="-798391"/>
            <a:ext cx="4118443" cy="3654183"/>
          </a:xfrm>
          <a:custGeom>
            <a:avLst/>
            <a:gdLst/>
            <a:ahLst/>
            <a:cxnLst/>
            <a:rect r="r" b="b" t="t" l="l"/>
            <a:pathLst>
              <a:path h="3654183" w="4118443">
                <a:moveTo>
                  <a:pt x="4118444" y="3654182"/>
                </a:moveTo>
                <a:lnTo>
                  <a:pt x="0" y="3654182"/>
                </a:lnTo>
                <a:lnTo>
                  <a:pt x="0" y="0"/>
                </a:lnTo>
                <a:lnTo>
                  <a:pt x="4118444" y="0"/>
                </a:lnTo>
                <a:lnTo>
                  <a:pt x="4118444" y="365418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7131230" y="6951727"/>
            <a:ext cx="10644051" cy="3122482"/>
          </a:xfrm>
          <a:prstGeom prst="rect">
            <a:avLst/>
          </a:prstGeom>
        </p:spPr>
        <p:txBody>
          <a:bodyPr anchor="t" rtlCol="false" tIns="0" lIns="0" bIns="0" rIns="0">
            <a:spAutoFit/>
          </a:bodyPr>
          <a:lstStyle/>
          <a:p>
            <a:pPr algn="l">
              <a:lnSpc>
                <a:spcPts val="2510"/>
              </a:lnSpc>
            </a:pPr>
            <a:r>
              <a:rPr lang="en-US" sz="1819" spc="178">
                <a:solidFill>
                  <a:srgbClr val="231F20"/>
                </a:solidFill>
                <a:latin typeface="Open Sauce"/>
                <a:ea typeface="Open Sauce"/>
                <a:cs typeface="Open Sauce"/>
                <a:sym typeface="Open Sauce"/>
              </a:rPr>
              <a:t>• LEDs indicador tipo semáforo: Componente de señalización visual.</a:t>
            </a:r>
          </a:p>
          <a:p>
            <a:pPr algn="l">
              <a:lnSpc>
                <a:spcPts val="2510"/>
              </a:lnSpc>
            </a:pPr>
            <a:r>
              <a:rPr lang="en-US" sz="1819" spc="178">
                <a:solidFill>
                  <a:srgbClr val="231F20"/>
                </a:solidFill>
                <a:latin typeface="Open Sauce"/>
                <a:ea typeface="Open Sauce"/>
                <a:cs typeface="Open Sauce"/>
                <a:sym typeface="Open Sauce"/>
              </a:rPr>
              <a:t>• Componentes M3: Puntos de sujeción y tornillos autorroscantes.</a:t>
            </a:r>
          </a:p>
          <a:p>
            <a:pPr algn="l">
              <a:lnSpc>
                <a:spcPts val="2510"/>
              </a:lnSpc>
            </a:pPr>
            <a:r>
              <a:rPr lang="en-US" sz="1819" spc="178">
                <a:solidFill>
                  <a:srgbClr val="231F20"/>
                </a:solidFill>
                <a:latin typeface="Open Sauce"/>
                <a:ea typeface="Open Sauce"/>
                <a:cs typeface="Open Sauce"/>
                <a:sym typeface="Open Sauce"/>
              </a:rPr>
              <a:t>• Strap lug: Argolla para la correa de sujeción.</a:t>
            </a:r>
          </a:p>
          <a:p>
            <a:pPr algn="l">
              <a:lnSpc>
                <a:spcPts val="2510"/>
              </a:lnSpc>
            </a:pPr>
            <a:r>
              <a:rPr lang="en-US" sz="1819" spc="178">
                <a:solidFill>
                  <a:srgbClr val="231F20"/>
                </a:solidFill>
                <a:latin typeface="Open Sauce"/>
                <a:ea typeface="Open Sauce"/>
                <a:cs typeface="Open Sauce"/>
                <a:sym typeface="Open Sauce"/>
              </a:rPr>
              <a:t>• LED indicador: Luz guía de estado.</a:t>
            </a:r>
          </a:p>
          <a:p>
            <a:pPr algn="l">
              <a:lnSpc>
                <a:spcPts val="2510"/>
              </a:lnSpc>
            </a:pPr>
            <a:r>
              <a:rPr lang="en-US" sz="1819" spc="178">
                <a:solidFill>
                  <a:srgbClr val="231F20"/>
                </a:solidFill>
                <a:latin typeface="Open Sauce"/>
                <a:ea typeface="Open Sauce"/>
                <a:cs typeface="Open Sauce"/>
                <a:sym typeface="Open Sauce"/>
              </a:rPr>
              <a:t>• Pulsador momentáneo: Botón de activación interactivo.</a:t>
            </a:r>
          </a:p>
          <a:p>
            <a:pPr algn="l">
              <a:lnSpc>
                <a:spcPts val="2510"/>
              </a:lnSpc>
            </a:pPr>
            <a:r>
              <a:rPr lang="en-US" sz="1819" spc="178">
                <a:solidFill>
                  <a:srgbClr val="231F20"/>
                </a:solidFill>
                <a:latin typeface="Open Sauce"/>
                <a:ea typeface="Open Sauce"/>
                <a:cs typeface="Open Sauce"/>
                <a:sym typeface="Open Sauce"/>
              </a:rPr>
              <a:t>• Entrada tipo C: Puerto de conexión y carga.</a:t>
            </a:r>
          </a:p>
          <a:p>
            <a:pPr algn="l">
              <a:lnSpc>
                <a:spcPts val="2510"/>
              </a:lnSpc>
            </a:pPr>
            <a:r>
              <a:rPr lang="en-US" sz="1819" spc="178">
                <a:solidFill>
                  <a:srgbClr val="231F20"/>
                </a:solidFill>
                <a:latin typeface="Open Sauce"/>
                <a:ea typeface="Open Sauce"/>
                <a:cs typeface="Open Sauce"/>
                <a:sym typeface="Open Sauce"/>
              </a:rPr>
              <a:t>• Interruptor basculante KCD1-101: Mecanismo de encendido y apagado.</a:t>
            </a:r>
          </a:p>
          <a:p>
            <a:pPr algn="l">
              <a:lnSpc>
                <a:spcPts val="2510"/>
              </a:lnSpc>
            </a:pPr>
            <a:r>
              <a:rPr lang="en-US" sz="1819" spc="178">
                <a:solidFill>
                  <a:srgbClr val="231F20"/>
                </a:solidFill>
                <a:latin typeface="Open Sauce"/>
                <a:ea typeface="Open Sauce"/>
                <a:cs typeface="Open Sauce"/>
                <a:sym typeface="Open Sauce"/>
              </a:rPr>
              <a:t>• Display TFT 2.0" SPI: Pantalla principal del dispositivo.</a:t>
            </a:r>
          </a:p>
          <a:p>
            <a:pPr algn="l">
              <a:lnSpc>
                <a:spcPts val="2510"/>
              </a:lnSpc>
            </a:pPr>
            <a:r>
              <a:rPr lang="en-US" sz="1819" spc="178">
                <a:solidFill>
                  <a:srgbClr val="231F20"/>
                </a:solidFill>
                <a:latin typeface="Open Sauce"/>
                <a:ea typeface="Open Sauce"/>
                <a:cs typeface="Open Sauce"/>
                <a:sym typeface="Open Sauce"/>
              </a:rPr>
              <a:t>• Flash light white: Módulo de iluminación led blanca.</a:t>
            </a:r>
          </a:p>
          <a:p>
            <a:pPr algn="l" marL="0" indent="0" lvl="0">
              <a:lnSpc>
                <a:spcPts val="2510"/>
              </a:lnSpc>
              <a:spcBef>
                <a:spcPct val="0"/>
              </a:spcBef>
            </a:pPr>
            <a:r>
              <a:rPr lang="en-US" sz="1819" spc="178">
                <a:solidFill>
                  <a:srgbClr val="231F20"/>
                </a:solidFill>
                <a:latin typeface="Open Sauce"/>
                <a:ea typeface="Open Sauce"/>
                <a:cs typeface="Open Sauce"/>
                <a:sym typeface="Open Sauce"/>
              </a:rPr>
              <a:t>• Camera module OV2640: Sensor de captura de imagen.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84451" y="165351"/>
            <a:ext cx="5150121" cy="982623"/>
          </a:xfrm>
          <a:prstGeom prst="rect">
            <a:avLst/>
          </a:prstGeom>
        </p:spPr>
        <p:txBody>
          <a:bodyPr anchor="t" rtlCol="false" tIns="0" lIns="0" bIns="0" rIns="0">
            <a:spAutoFit/>
          </a:bodyPr>
          <a:lstStyle/>
          <a:p>
            <a:pPr algn="l" marL="0" indent="0" lvl="0">
              <a:lnSpc>
                <a:spcPts val="7956"/>
              </a:lnSpc>
              <a:spcBef>
                <a:spcPct val="0"/>
              </a:spcBef>
            </a:pPr>
            <a:r>
              <a:rPr lang="en-US" b="true" sz="5765" spc="565">
                <a:solidFill>
                  <a:srgbClr val="231F20"/>
                </a:solidFill>
                <a:latin typeface="Montserrat Bold"/>
                <a:ea typeface="Montserrat Bold"/>
                <a:cs typeface="Montserrat Bold"/>
                <a:sym typeface="Montserrat Bold"/>
              </a:rPr>
              <a:t>Planos:</a:t>
            </a:r>
          </a:p>
        </p:txBody>
      </p:sp>
      <p:sp>
        <p:nvSpPr>
          <p:cNvPr name="Freeform 3" id="3"/>
          <p:cNvSpPr/>
          <p:nvPr/>
        </p:nvSpPr>
        <p:spPr>
          <a:xfrm flipH="false" flipV="false" rot="0">
            <a:off x="16322124"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2059222" y="-798391"/>
            <a:ext cx="4118443" cy="3654183"/>
          </a:xfrm>
          <a:custGeom>
            <a:avLst/>
            <a:gdLst/>
            <a:ahLst/>
            <a:cxnLst/>
            <a:rect r="r" b="b" t="t" l="l"/>
            <a:pathLst>
              <a:path h="3654183" w="4118443">
                <a:moveTo>
                  <a:pt x="4118444" y="3654182"/>
                </a:moveTo>
                <a:lnTo>
                  <a:pt x="0" y="3654182"/>
                </a:lnTo>
                <a:lnTo>
                  <a:pt x="0" y="0"/>
                </a:lnTo>
                <a:lnTo>
                  <a:pt x="4118444" y="0"/>
                </a:lnTo>
                <a:lnTo>
                  <a:pt x="4118444" y="36541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19513" y="3558740"/>
            <a:ext cx="8824487" cy="6680635"/>
          </a:xfrm>
          <a:custGeom>
            <a:avLst/>
            <a:gdLst/>
            <a:ahLst/>
            <a:cxnLst/>
            <a:rect r="r" b="b" t="t" l="l"/>
            <a:pathLst>
              <a:path h="6680635" w="8824487">
                <a:moveTo>
                  <a:pt x="0" y="0"/>
                </a:moveTo>
                <a:lnTo>
                  <a:pt x="8824487" y="0"/>
                </a:lnTo>
                <a:lnTo>
                  <a:pt x="8824487" y="6680635"/>
                </a:lnTo>
                <a:lnTo>
                  <a:pt x="0" y="6680635"/>
                </a:lnTo>
                <a:lnTo>
                  <a:pt x="0" y="0"/>
                </a:lnTo>
                <a:close/>
              </a:path>
            </a:pathLst>
          </a:custGeom>
          <a:blipFill>
            <a:blip r:embed="rId4"/>
            <a:stretch>
              <a:fillRect l="0" t="0" r="0" b="0"/>
            </a:stretch>
          </a:blipFill>
        </p:spPr>
      </p:sp>
      <p:sp>
        <p:nvSpPr>
          <p:cNvPr name="Freeform 6" id="6"/>
          <p:cNvSpPr/>
          <p:nvPr/>
        </p:nvSpPr>
        <p:spPr>
          <a:xfrm flipH="false" flipV="false" rot="0">
            <a:off x="9200924" y="0"/>
            <a:ext cx="9074354" cy="6899058"/>
          </a:xfrm>
          <a:custGeom>
            <a:avLst/>
            <a:gdLst/>
            <a:ahLst/>
            <a:cxnLst/>
            <a:rect r="r" b="b" t="t" l="l"/>
            <a:pathLst>
              <a:path h="6899058" w="9074354">
                <a:moveTo>
                  <a:pt x="0" y="0"/>
                </a:moveTo>
                <a:lnTo>
                  <a:pt x="9074355" y="0"/>
                </a:lnTo>
                <a:lnTo>
                  <a:pt x="9074355" y="6899058"/>
                </a:lnTo>
                <a:lnTo>
                  <a:pt x="0" y="6899058"/>
                </a:lnTo>
                <a:lnTo>
                  <a:pt x="0" y="0"/>
                </a:lnTo>
                <a:close/>
              </a:path>
            </a:pathLst>
          </a:custGeom>
          <a:blipFill>
            <a:blip r:embed="rId5"/>
            <a:stretch>
              <a:fillRect l="0" t="0" r="0" b="0"/>
            </a:stretch>
          </a:blipFill>
        </p:spPr>
      </p:sp>
      <p:sp>
        <p:nvSpPr>
          <p:cNvPr name="TextBox 7" id="7"/>
          <p:cNvSpPr txBox="true"/>
          <p:nvPr/>
        </p:nvSpPr>
        <p:spPr>
          <a:xfrm rot="0">
            <a:off x="1009650" y="1431460"/>
            <a:ext cx="8325853" cy="2127280"/>
          </a:xfrm>
          <a:prstGeom prst="rect">
            <a:avLst/>
          </a:prstGeom>
        </p:spPr>
        <p:txBody>
          <a:bodyPr anchor="t" rtlCol="false" tIns="0" lIns="0" bIns="0" rIns="0">
            <a:spAutoFit/>
          </a:bodyPr>
          <a:lstStyle/>
          <a:p>
            <a:pPr algn="l" marL="0" indent="0" lvl="0">
              <a:lnSpc>
                <a:spcPts val="2106"/>
              </a:lnSpc>
              <a:spcBef>
                <a:spcPct val="0"/>
              </a:spcBef>
            </a:pPr>
            <a:r>
              <a:rPr lang="en-US" sz="1526" spc="149">
                <a:solidFill>
                  <a:srgbClr val="231F20"/>
                </a:solidFill>
                <a:latin typeface="Open Sauce"/>
                <a:ea typeface="Open Sauce"/>
                <a:cs typeface="Open Sauce"/>
                <a:sym typeface="Open Sauce"/>
              </a:rPr>
              <a:t>Los planos muestran las dimensiones reales del cuerpo principal de CrackScan (19.0 × 12.5 cm) y de la tapa/base de fijación, incluyendo las cotas de los agujeros de montaje (Ø0.6, Ø0.65, Ø0.25 cm) para los tornillos M3 que unen ambas mitades de la carcasa. La vista frontal evidencia la disposición de los botones de GPS y escaneo (gatillo), mientras que los cortes laterales (1.175 × 0.270 cm y 2.030 × 2.5 cm) corresponden a los accesos para el switch de encendido y el puerto de carga USB-C.</a:t>
            </a:r>
          </a:p>
        </p:txBody>
      </p:sp>
      <p:sp>
        <p:nvSpPr>
          <p:cNvPr name="TextBox 8" id="8"/>
          <p:cNvSpPr txBox="true"/>
          <p:nvPr/>
        </p:nvSpPr>
        <p:spPr>
          <a:xfrm rot="0">
            <a:off x="1282026" y="990600"/>
            <a:ext cx="3647599" cy="404272"/>
          </a:xfrm>
          <a:prstGeom prst="rect">
            <a:avLst/>
          </a:prstGeom>
        </p:spPr>
        <p:txBody>
          <a:bodyPr anchor="t" rtlCol="false" tIns="0" lIns="0" bIns="0" rIns="0">
            <a:spAutoFit/>
          </a:bodyPr>
          <a:lstStyle/>
          <a:p>
            <a:pPr algn="l" marL="0" indent="0" lvl="0">
              <a:lnSpc>
                <a:spcPts val="3366"/>
              </a:lnSpc>
              <a:spcBef>
                <a:spcPct val="0"/>
              </a:spcBef>
            </a:pPr>
            <a:r>
              <a:rPr lang="en-US" b="true" sz="2439" spc="239">
                <a:solidFill>
                  <a:srgbClr val="397D5A"/>
                </a:solidFill>
                <a:latin typeface="Open Sauce Bold"/>
                <a:ea typeface="Open Sauce Bold"/>
                <a:cs typeface="Open Sauce Bold"/>
                <a:sym typeface="Open Sauce Bold"/>
              </a:rPr>
              <a:t>"Vistas técnicas"</a:t>
            </a:r>
          </a:p>
        </p:txBody>
      </p:sp>
      <p:sp>
        <p:nvSpPr>
          <p:cNvPr name="TextBox 9" id="9"/>
          <p:cNvSpPr txBox="true"/>
          <p:nvPr/>
        </p:nvSpPr>
        <p:spPr>
          <a:xfrm rot="0">
            <a:off x="9363722" y="7504219"/>
            <a:ext cx="7425827" cy="2586826"/>
          </a:xfrm>
          <a:prstGeom prst="rect">
            <a:avLst/>
          </a:prstGeom>
        </p:spPr>
        <p:txBody>
          <a:bodyPr anchor="t" rtlCol="false" tIns="0" lIns="0" bIns="0" rIns="0">
            <a:spAutoFit/>
          </a:bodyPr>
          <a:lstStyle/>
          <a:p>
            <a:pPr algn="l" marL="0" indent="0" lvl="0">
              <a:lnSpc>
                <a:spcPts val="2301"/>
              </a:lnSpc>
              <a:spcBef>
                <a:spcPct val="0"/>
              </a:spcBef>
            </a:pPr>
            <a:r>
              <a:rPr lang="en-US" sz="1667" spc="163">
                <a:solidFill>
                  <a:srgbClr val="231F20"/>
                </a:solidFill>
                <a:latin typeface="Open Sauce"/>
                <a:ea typeface="Open Sauce"/>
                <a:cs typeface="Open Sauce"/>
                <a:sym typeface="Open Sauce"/>
              </a:rPr>
              <a:t>El usuario sostiene CrackScan con una mano, apuntando la cámara hacia la superficie de concreto a inspeccionar. Al presionar el botón "Scanear", el sistema captura la imagen de la grieta; el botón "GPS" registra la ubicación exacta del punto evaluado. Ambos datos se transmiten vía Bluetooth hacia una aplicación externa, donde se procesan para determinar el nivel de riesgo de la grieta y se almacenan georreferenciados, integrando el objeto físico dentro de un flujo completo de monitoreo estructural preventivo.</a:t>
            </a:r>
          </a:p>
        </p:txBody>
      </p:sp>
      <p:sp>
        <p:nvSpPr>
          <p:cNvPr name="TextBox 10" id="10"/>
          <p:cNvSpPr txBox="true"/>
          <p:nvPr/>
        </p:nvSpPr>
        <p:spPr>
          <a:xfrm rot="0">
            <a:off x="9363722" y="7019378"/>
            <a:ext cx="6776092" cy="427691"/>
          </a:xfrm>
          <a:prstGeom prst="rect">
            <a:avLst/>
          </a:prstGeom>
        </p:spPr>
        <p:txBody>
          <a:bodyPr anchor="t" rtlCol="false" tIns="0" lIns="0" bIns="0" rIns="0">
            <a:spAutoFit/>
          </a:bodyPr>
          <a:lstStyle/>
          <a:p>
            <a:pPr algn="l" marL="0" indent="0" lvl="0">
              <a:lnSpc>
                <a:spcPts val="3582"/>
              </a:lnSpc>
              <a:spcBef>
                <a:spcPct val="0"/>
              </a:spcBef>
            </a:pPr>
            <a:r>
              <a:rPr lang="en-US" b="true" sz="2595" spc="254">
                <a:solidFill>
                  <a:srgbClr val="397D5A"/>
                </a:solidFill>
                <a:latin typeface="Open Sauce Bold"/>
                <a:ea typeface="Open Sauce Bold"/>
                <a:cs typeface="Open Sauce Bold"/>
                <a:sym typeface="Open Sauce Bold"/>
              </a:rPr>
              <a:t>"Interacción con el mundo real"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22124"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2059222" y="-798391"/>
            <a:ext cx="4118443" cy="3654183"/>
          </a:xfrm>
          <a:custGeom>
            <a:avLst/>
            <a:gdLst/>
            <a:ahLst/>
            <a:cxnLst/>
            <a:rect r="r" b="b" t="t" l="l"/>
            <a:pathLst>
              <a:path h="3654183" w="4118443">
                <a:moveTo>
                  <a:pt x="4118444" y="3654182"/>
                </a:moveTo>
                <a:lnTo>
                  <a:pt x="0" y="3654182"/>
                </a:lnTo>
                <a:lnTo>
                  <a:pt x="0" y="0"/>
                </a:lnTo>
                <a:lnTo>
                  <a:pt x="4118444" y="0"/>
                </a:lnTo>
                <a:lnTo>
                  <a:pt x="4118444" y="36541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0776" y="1027028"/>
            <a:ext cx="5969614" cy="3356521"/>
          </a:xfrm>
          <a:custGeom>
            <a:avLst/>
            <a:gdLst/>
            <a:ahLst/>
            <a:cxnLst/>
            <a:rect r="r" b="b" t="t" l="l"/>
            <a:pathLst>
              <a:path h="3356521" w="5969614">
                <a:moveTo>
                  <a:pt x="0" y="0"/>
                </a:moveTo>
                <a:lnTo>
                  <a:pt x="5969614" y="0"/>
                </a:lnTo>
                <a:lnTo>
                  <a:pt x="5969614" y="3356521"/>
                </a:lnTo>
                <a:lnTo>
                  <a:pt x="0" y="3356521"/>
                </a:lnTo>
                <a:lnTo>
                  <a:pt x="0" y="0"/>
                </a:lnTo>
                <a:close/>
              </a:path>
            </a:pathLst>
          </a:custGeom>
          <a:blipFill>
            <a:blip r:embed="rId4"/>
            <a:stretch>
              <a:fillRect l="-4819" t="0" r="-4819" b="0"/>
            </a:stretch>
          </a:blipFill>
        </p:spPr>
      </p:sp>
      <p:sp>
        <p:nvSpPr>
          <p:cNvPr name="Freeform 5" id="5"/>
          <p:cNvSpPr/>
          <p:nvPr/>
        </p:nvSpPr>
        <p:spPr>
          <a:xfrm flipH="false" flipV="false" rot="0">
            <a:off x="6377127" y="183008"/>
            <a:ext cx="5046095" cy="3176165"/>
          </a:xfrm>
          <a:custGeom>
            <a:avLst/>
            <a:gdLst/>
            <a:ahLst/>
            <a:cxnLst/>
            <a:rect r="r" b="b" t="t" l="l"/>
            <a:pathLst>
              <a:path h="3176165" w="5046095">
                <a:moveTo>
                  <a:pt x="0" y="0"/>
                </a:moveTo>
                <a:lnTo>
                  <a:pt x="5046095" y="0"/>
                </a:lnTo>
                <a:lnTo>
                  <a:pt x="5046095" y="3176165"/>
                </a:lnTo>
                <a:lnTo>
                  <a:pt x="0" y="3176165"/>
                </a:lnTo>
                <a:lnTo>
                  <a:pt x="0" y="0"/>
                </a:lnTo>
                <a:close/>
              </a:path>
            </a:pathLst>
          </a:custGeom>
          <a:blipFill>
            <a:blip r:embed="rId5"/>
            <a:stretch>
              <a:fillRect l="0" t="-17398" r="0" b="-1338"/>
            </a:stretch>
          </a:blipFill>
        </p:spPr>
      </p:sp>
      <p:sp>
        <p:nvSpPr>
          <p:cNvPr name="Freeform 6" id="6"/>
          <p:cNvSpPr/>
          <p:nvPr/>
        </p:nvSpPr>
        <p:spPr>
          <a:xfrm flipH="false" flipV="false" rot="0">
            <a:off x="110776" y="4690123"/>
            <a:ext cx="5685027" cy="3730467"/>
          </a:xfrm>
          <a:custGeom>
            <a:avLst/>
            <a:gdLst/>
            <a:ahLst/>
            <a:cxnLst/>
            <a:rect r="r" b="b" t="t" l="l"/>
            <a:pathLst>
              <a:path h="3730467" w="5685027">
                <a:moveTo>
                  <a:pt x="0" y="0"/>
                </a:moveTo>
                <a:lnTo>
                  <a:pt x="5685027" y="0"/>
                </a:lnTo>
                <a:lnTo>
                  <a:pt x="5685027" y="3730467"/>
                </a:lnTo>
                <a:lnTo>
                  <a:pt x="0" y="3730467"/>
                </a:lnTo>
                <a:lnTo>
                  <a:pt x="0" y="0"/>
                </a:lnTo>
                <a:close/>
              </a:path>
            </a:pathLst>
          </a:custGeom>
          <a:blipFill>
            <a:blip r:embed="rId6"/>
            <a:stretch>
              <a:fillRect l="-6643" t="0" r="-6643" b="0"/>
            </a:stretch>
          </a:blipFill>
        </p:spPr>
      </p:sp>
      <p:sp>
        <p:nvSpPr>
          <p:cNvPr name="Freeform 7" id="7"/>
          <p:cNvSpPr/>
          <p:nvPr/>
        </p:nvSpPr>
        <p:spPr>
          <a:xfrm flipH="false" flipV="false" rot="0">
            <a:off x="5795803" y="3834732"/>
            <a:ext cx="6922182" cy="6137114"/>
          </a:xfrm>
          <a:custGeom>
            <a:avLst/>
            <a:gdLst/>
            <a:ahLst/>
            <a:cxnLst/>
            <a:rect r="r" b="b" t="t" l="l"/>
            <a:pathLst>
              <a:path h="6137114" w="6922182">
                <a:moveTo>
                  <a:pt x="0" y="0"/>
                </a:moveTo>
                <a:lnTo>
                  <a:pt x="6922181" y="0"/>
                </a:lnTo>
                <a:lnTo>
                  <a:pt x="6922181" y="6137114"/>
                </a:lnTo>
                <a:lnTo>
                  <a:pt x="0" y="6137114"/>
                </a:lnTo>
                <a:lnTo>
                  <a:pt x="0" y="0"/>
                </a:lnTo>
                <a:close/>
              </a:path>
            </a:pathLst>
          </a:custGeom>
          <a:blipFill>
            <a:blip r:embed="rId7"/>
            <a:stretch>
              <a:fillRect l="0" t="0" r="0" b="0"/>
            </a:stretch>
          </a:blipFill>
        </p:spPr>
      </p:sp>
      <p:sp>
        <p:nvSpPr>
          <p:cNvPr name="Freeform 8" id="8"/>
          <p:cNvSpPr/>
          <p:nvPr/>
        </p:nvSpPr>
        <p:spPr>
          <a:xfrm flipH="false" flipV="false" rot="0">
            <a:off x="397754" y="216692"/>
            <a:ext cx="2161167" cy="505536"/>
          </a:xfrm>
          <a:custGeom>
            <a:avLst/>
            <a:gdLst/>
            <a:ahLst/>
            <a:cxnLst/>
            <a:rect r="r" b="b" t="t" l="l"/>
            <a:pathLst>
              <a:path h="505536" w="2161167">
                <a:moveTo>
                  <a:pt x="0" y="0"/>
                </a:moveTo>
                <a:lnTo>
                  <a:pt x="2161168" y="0"/>
                </a:lnTo>
                <a:lnTo>
                  <a:pt x="2161168" y="505536"/>
                </a:lnTo>
                <a:lnTo>
                  <a:pt x="0" y="505536"/>
                </a:lnTo>
                <a:lnTo>
                  <a:pt x="0" y="0"/>
                </a:lnTo>
                <a:close/>
              </a:path>
            </a:pathLst>
          </a:custGeom>
          <a:blipFill>
            <a:blip r:embed="rId8"/>
            <a:stretch>
              <a:fillRect l="0" t="0" r="0" b="0"/>
            </a:stretch>
          </a:blipFill>
        </p:spPr>
      </p:sp>
      <p:sp>
        <p:nvSpPr>
          <p:cNvPr name="TextBox 9" id="9"/>
          <p:cNvSpPr txBox="true"/>
          <p:nvPr/>
        </p:nvSpPr>
        <p:spPr>
          <a:xfrm rot="0">
            <a:off x="12333030" y="268733"/>
            <a:ext cx="5150121" cy="1958500"/>
          </a:xfrm>
          <a:prstGeom prst="rect">
            <a:avLst/>
          </a:prstGeom>
        </p:spPr>
        <p:txBody>
          <a:bodyPr anchor="t" rtlCol="false" tIns="0" lIns="0" bIns="0" rIns="0">
            <a:spAutoFit/>
          </a:bodyPr>
          <a:lstStyle/>
          <a:p>
            <a:pPr algn="l" marL="0" indent="0" lvl="0">
              <a:lnSpc>
                <a:spcPts val="5164"/>
              </a:lnSpc>
              <a:spcBef>
                <a:spcPct val="0"/>
              </a:spcBef>
            </a:pPr>
            <a:r>
              <a:rPr lang="en-US" b="true" sz="4965" spc="14">
                <a:solidFill>
                  <a:srgbClr val="231F20"/>
                </a:solidFill>
                <a:latin typeface="Montserrat Bold"/>
                <a:ea typeface="Montserrat Bold"/>
                <a:cs typeface="Montserrat Bold"/>
                <a:sym typeface="Montserrat Bold"/>
              </a:rPr>
              <a:t>¿Cómo interactua con el mundo real?</a:t>
            </a:r>
          </a:p>
        </p:txBody>
      </p:sp>
      <p:sp>
        <p:nvSpPr>
          <p:cNvPr name="TextBox 10" id="10"/>
          <p:cNvSpPr txBox="true"/>
          <p:nvPr/>
        </p:nvSpPr>
        <p:spPr>
          <a:xfrm rot="0">
            <a:off x="12260156" y="3858611"/>
            <a:ext cx="5222996" cy="1277995"/>
          </a:xfrm>
          <a:prstGeom prst="rect">
            <a:avLst/>
          </a:prstGeom>
        </p:spPr>
        <p:txBody>
          <a:bodyPr anchor="t" rtlCol="false" tIns="0" lIns="0" bIns="0" rIns="0">
            <a:spAutoFit/>
          </a:bodyPr>
          <a:lstStyle/>
          <a:p>
            <a:pPr algn="l" marL="0" indent="0" lvl="0">
              <a:lnSpc>
                <a:spcPts val="2055"/>
              </a:lnSpc>
              <a:spcBef>
                <a:spcPct val="0"/>
              </a:spcBef>
            </a:pPr>
            <a:r>
              <a:rPr lang="en-US" sz="1489" spc="145">
                <a:solidFill>
                  <a:srgbClr val="231F20"/>
                </a:solidFill>
                <a:latin typeface="Open Sauce"/>
                <a:ea typeface="Open Sauce"/>
                <a:cs typeface="Open Sauce"/>
                <a:sym typeface="Open Sauce"/>
              </a:rPr>
              <a:t>Al atornillar las dos mitades de la carcasa, los bosses reciben un torque de apriete de 0.3 N·m sin agrietarse — garantiza que el dispositivo se pueda abrir y cerrar para mantenimiento sin dañar la estructura.</a:t>
            </a:r>
          </a:p>
        </p:txBody>
      </p:sp>
      <p:sp>
        <p:nvSpPr>
          <p:cNvPr name="TextBox 11" id="11"/>
          <p:cNvSpPr txBox="true"/>
          <p:nvPr/>
        </p:nvSpPr>
        <p:spPr>
          <a:xfrm rot="0">
            <a:off x="12260156" y="3465492"/>
            <a:ext cx="5607208" cy="376507"/>
          </a:xfrm>
          <a:prstGeom prst="rect">
            <a:avLst/>
          </a:prstGeom>
        </p:spPr>
        <p:txBody>
          <a:bodyPr anchor="t" rtlCol="false" tIns="0" lIns="0" bIns="0" rIns="0">
            <a:spAutoFit/>
          </a:bodyPr>
          <a:lstStyle/>
          <a:p>
            <a:pPr algn="l" marL="0" indent="0" lvl="0">
              <a:lnSpc>
                <a:spcPts val="3199"/>
              </a:lnSpc>
              <a:spcBef>
                <a:spcPct val="0"/>
              </a:spcBef>
            </a:pPr>
            <a:r>
              <a:rPr lang="en-US" b="true" sz="2318" spc="227">
                <a:solidFill>
                  <a:srgbClr val="397D5A"/>
                </a:solidFill>
                <a:latin typeface="Open Sauce Bold"/>
                <a:ea typeface="Open Sauce Bold"/>
                <a:cs typeface="Open Sauce Bold"/>
                <a:sym typeface="Open Sauce Bold"/>
              </a:rPr>
              <a:t>Ensamblaje (torque en bosses)</a:t>
            </a:r>
          </a:p>
        </p:txBody>
      </p:sp>
      <p:sp>
        <p:nvSpPr>
          <p:cNvPr name="TextBox 12" id="12"/>
          <p:cNvSpPr txBox="true"/>
          <p:nvPr/>
        </p:nvSpPr>
        <p:spPr>
          <a:xfrm rot="0">
            <a:off x="12260156" y="5644024"/>
            <a:ext cx="5222996" cy="1021302"/>
          </a:xfrm>
          <a:prstGeom prst="rect">
            <a:avLst/>
          </a:prstGeom>
        </p:spPr>
        <p:txBody>
          <a:bodyPr anchor="t" rtlCol="false" tIns="0" lIns="0" bIns="0" rIns="0">
            <a:spAutoFit/>
          </a:bodyPr>
          <a:lstStyle/>
          <a:p>
            <a:pPr algn="l" marL="0" indent="0" lvl="0">
              <a:lnSpc>
                <a:spcPts val="2055"/>
              </a:lnSpc>
              <a:spcBef>
                <a:spcPct val="0"/>
              </a:spcBef>
            </a:pPr>
            <a:r>
              <a:rPr lang="en-US" sz="1489" spc="145">
                <a:solidFill>
                  <a:srgbClr val="231F20"/>
                </a:solidFill>
                <a:latin typeface="Open Sauce"/>
                <a:ea typeface="Open Sauce"/>
                <a:cs typeface="Open Sauce"/>
                <a:sym typeface="Open Sauce"/>
              </a:rPr>
              <a:t>Al llevar la cámara colgada, las orejetas de sujeción resisten hasta 15 N (~4 veces el peso real del equipo), simulando un tirón brusco durante la inspección sin que fallen.</a:t>
            </a:r>
          </a:p>
        </p:txBody>
      </p:sp>
      <p:sp>
        <p:nvSpPr>
          <p:cNvPr name="TextBox 13" id="13"/>
          <p:cNvSpPr txBox="true"/>
          <p:nvPr/>
        </p:nvSpPr>
        <p:spPr>
          <a:xfrm rot="0">
            <a:off x="12260156" y="5250906"/>
            <a:ext cx="5501639" cy="376507"/>
          </a:xfrm>
          <a:prstGeom prst="rect">
            <a:avLst/>
          </a:prstGeom>
        </p:spPr>
        <p:txBody>
          <a:bodyPr anchor="t" rtlCol="false" tIns="0" lIns="0" bIns="0" rIns="0">
            <a:spAutoFit/>
          </a:bodyPr>
          <a:lstStyle/>
          <a:p>
            <a:pPr algn="l" marL="0" indent="0" lvl="0">
              <a:lnSpc>
                <a:spcPts val="3199"/>
              </a:lnSpc>
              <a:spcBef>
                <a:spcPct val="0"/>
              </a:spcBef>
            </a:pPr>
            <a:r>
              <a:rPr lang="en-US" b="true" sz="2318" spc="227">
                <a:solidFill>
                  <a:srgbClr val="397D5A"/>
                </a:solidFill>
                <a:latin typeface="Open Sauce Bold"/>
                <a:ea typeface="Open Sauce Bold"/>
                <a:cs typeface="Open Sauce Bold"/>
                <a:sym typeface="Open Sauce Bold"/>
              </a:rPr>
              <a:t>Transporte (tirón del cordón)</a:t>
            </a:r>
          </a:p>
        </p:txBody>
      </p:sp>
      <p:sp>
        <p:nvSpPr>
          <p:cNvPr name="TextBox 14" id="14"/>
          <p:cNvSpPr txBox="true"/>
          <p:nvPr/>
        </p:nvSpPr>
        <p:spPr>
          <a:xfrm rot="0">
            <a:off x="12260156" y="7174203"/>
            <a:ext cx="5133564" cy="1791380"/>
          </a:xfrm>
          <a:prstGeom prst="rect">
            <a:avLst/>
          </a:prstGeom>
        </p:spPr>
        <p:txBody>
          <a:bodyPr anchor="t" rtlCol="false" tIns="0" lIns="0" bIns="0" rIns="0">
            <a:spAutoFit/>
          </a:bodyPr>
          <a:lstStyle/>
          <a:p>
            <a:pPr algn="l" marL="0" indent="0" lvl="0">
              <a:lnSpc>
                <a:spcPts val="2055"/>
              </a:lnSpc>
              <a:spcBef>
                <a:spcPct val="0"/>
              </a:spcBef>
            </a:pPr>
            <a:r>
              <a:rPr lang="en-US" sz="1489" spc="145">
                <a:solidFill>
                  <a:srgbClr val="231F20"/>
                </a:solidFill>
                <a:latin typeface="Open Sauce"/>
                <a:ea typeface="Open Sauce"/>
                <a:cs typeface="Open Sauce"/>
                <a:sym typeface="Open Sauce"/>
              </a:rPr>
              <a:t>Ante un golpe en esquina (el escenario más crítico), el esfuerzo máximo registrado fue de 23.22 MPa, muy por debajo del límite de rotura del PETG (45-55 MPa) → factor de seguridad ≈ 2, confirmando que la carcasa protege los componentes internos incluso en una caída.</a:t>
            </a:r>
          </a:p>
        </p:txBody>
      </p:sp>
      <p:sp>
        <p:nvSpPr>
          <p:cNvPr name="TextBox 15" id="15"/>
          <p:cNvSpPr txBox="true"/>
          <p:nvPr/>
        </p:nvSpPr>
        <p:spPr>
          <a:xfrm rot="0">
            <a:off x="12260156" y="6781084"/>
            <a:ext cx="3974658" cy="376507"/>
          </a:xfrm>
          <a:prstGeom prst="rect">
            <a:avLst/>
          </a:prstGeom>
        </p:spPr>
        <p:txBody>
          <a:bodyPr anchor="t" rtlCol="false" tIns="0" lIns="0" bIns="0" rIns="0">
            <a:spAutoFit/>
          </a:bodyPr>
          <a:lstStyle/>
          <a:p>
            <a:pPr algn="l" marL="0" indent="0" lvl="0">
              <a:lnSpc>
                <a:spcPts val="3199"/>
              </a:lnSpc>
              <a:spcBef>
                <a:spcPct val="0"/>
              </a:spcBef>
            </a:pPr>
            <a:r>
              <a:rPr lang="en-US" b="true" sz="2318" spc="227">
                <a:solidFill>
                  <a:srgbClr val="397D5A"/>
                </a:solidFill>
                <a:latin typeface="Open Sauce Bold"/>
                <a:ea typeface="Open Sauce Bold"/>
                <a:cs typeface="Open Sauce Bold"/>
                <a:sym typeface="Open Sauce Bold"/>
              </a:rPr>
              <a:t>Caída accidental</a:t>
            </a:r>
          </a:p>
        </p:txBody>
      </p:sp>
      <p:sp>
        <p:nvSpPr>
          <p:cNvPr name="TextBox 16" id="16"/>
          <p:cNvSpPr txBox="true"/>
          <p:nvPr/>
        </p:nvSpPr>
        <p:spPr>
          <a:xfrm rot="0">
            <a:off x="12333030" y="2337871"/>
            <a:ext cx="4979037" cy="764609"/>
          </a:xfrm>
          <a:prstGeom prst="rect">
            <a:avLst/>
          </a:prstGeom>
        </p:spPr>
        <p:txBody>
          <a:bodyPr anchor="t" rtlCol="false" tIns="0" lIns="0" bIns="0" rIns="0">
            <a:spAutoFit/>
          </a:bodyPr>
          <a:lstStyle/>
          <a:p>
            <a:pPr algn="l" marL="0" indent="0" lvl="0">
              <a:lnSpc>
                <a:spcPts val="2055"/>
              </a:lnSpc>
              <a:spcBef>
                <a:spcPct val="0"/>
              </a:spcBef>
            </a:pPr>
            <a:r>
              <a:rPr lang="en-US" sz="1489" spc="145">
                <a:solidFill>
                  <a:srgbClr val="231F20"/>
                </a:solidFill>
                <a:latin typeface="Open Sauce"/>
                <a:ea typeface="Open Sauce"/>
                <a:cs typeface="Open Sauce"/>
                <a:sym typeface="Open Sauce"/>
              </a:rPr>
              <a:t>CrackScan está expuesto a tres esfuerzos típicos de uso en campo, validados mediante simulación FEA (SimScale) en PETG: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3606" y="0"/>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27773" y="4163622"/>
            <a:ext cx="110236" cy="2818996"/>
            <a:chOff x="0" y="0"/>
            <a:chExt cx="26312" cy="672855"/>
          </a:xfrm>
        </p:grpSpPr>
        <p:sp>
          <p:nvSpPr>
            <p:cNvPr name="Freeform 9" id="9"/>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0" id="10"/>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2857101" y="-2238638"/>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3518407" y="85410"/>
            <a:ext cx="3710844" cy="2514286"/>
          </a:xfrm>
          <a:custGeom>
            <a:avLst/>
            <a:gdLst/>
            <a:ahLst/>
            <a:cxnLst/>
            <a:rect r="r" b="b" t="t" l="l"/>
            <a:pathLst>
              <a:path h="2514286" w="3710844">
                <a:moveTo>
                  <a:pt x="0" y="0"/>
                </a:moveTo>
                <a:lnTo>
                  <a:pt x="3710844" y="0"/>
                </a:lnTo>
                <a:lnTo>
                  <a:pt x="3710844" y="2514285"/>
                </a:lnTo>
                <a:lnTo>
                  <a:pt x="0" y="2514285"/>
                </a:lnTo>
                <a:lnTo>
                  <a:pt x="0" y="0"/>
                </a:lnTo>
                <a:close/>
              </a:path>
            </a:pathLst>
          </a:custGeom>
          <a:blipFill>
            <a:blip r:embed="rId6"/>
            <a:stretch>
              <a:fillRect l="0" t="0" r="0" b="0"/>
            </a:stretch>
          </a:blipFill>
        </p:spPr>
      </p:sp>
      <p:sp>
        <p:nvSpPr>
          <p:cNvPr name="TextBox 14" id="14"/>
          <p:cNvSpPr txBox="true"/>
          <p:nvPr/>
        </p:nvSpPr>
        <p:spPr>
          <a:xfrm rot="0">
            <a:off x="1543050" y="198118"/>
            <a:ext cx="7574480" cy="830582"/>
          </a:xfrm>
          <a:prstGeom prst="rect">
            <a:avLst/>
          </a:prstGeom>
        </p:spPr>
        <p:txBody>
          <a:bodyPr anchor="t" rtlCol="false" tIns="0" lIns="0" bIns="0" rIns="0">
            <a:spAutoFit/>
          </a:bodyPr>
          <a:lstStyle/>
          <a:p>
            <a:pPr algn="ctr">
              <a:lnSpc>
                <a:spcPts val="6858"/>
              </a:lnSpc>
            </a:pPr>
            <a:r>
              <a:rPr lang="en-US" b="true" sz="4969" spc="487">
                <a:solidFill>
                  <a:srgbClr val="010101"/>
                </a:solidFill>
                <a:latin typeface="Montserrat Bold"/>
                <a:ea typeface="Montserrat Bold"/>
                <a:cs typeface="Montserrat Bold"/>
                <a:sym typeface="Montserrat Bold"/>
              </a:rPr>
              <a:t>REFERENCIAS</a:t>
            </a:r>
          </a:p>
        </p:txBody>
      </p:sp>
      <p:sp>
        <p:nvSpPr>
          <p:cNvPr name="TextBox 15" id="15"/>
          <p:cNvSpPr txBox="true"/>
          <p:nvPr/>
        </p:nvSpPr>
        <p:spPr>
          <a:xfrm rot="0">
            <a:off x="1737741" y="1530447"/>
            <a:ext cx="13024917" cy="9422419"/>
          </a:xfrm>
          <a:prstGeom prst="rect">
            <a:avLst/>
          </a:prstGeom>
        </p:spPr>
        <p:txBody>
          <a:bodyPr anchor="t" rtlCol="false" tIns="0" lIns="0" bIns="0" rIns="0">
            <a:spAutoFit/>
          </a:bodyPr>
          <a:lstStyle/>
          <a:p>
            <a:pPr algn="l">
              <a:lnSpc>
                <a:spcPts val="2504"/>
              </a:lnSpc>
            </a:pPr>
            <a:r>
              <a:rPr lang="en-US" sz="1788" spc="89" b="true">
                <a:solidFill>
                  <a:srgbClr val="1F3864"/>
                </a:solidFill>
                <a:latin typeface="Open Sauce Bold"/>
                <a:ea typeface="Open Sauce Bold"/>
                <a:cs typeface="Open Sauce Bold"/>
                <a:sym typeface="Open Sauce Bold"/>
              </a:rPr>
              <a:t>[1] Instituto Geofísico del Perú (IGP), “Geometría de la placa de Nazca en Perú,” 2022. [En línea]. Disponible en: </a:t>
            </a:r>
            <a:r>
              <a:rPr lang="en-US" b="true" sz="1788" spc="89" u="sng">
                <a:solidFill>
                  <a:srgbClr val="1F3864"/>
                </a:solidFill>
                <a:latin typeface="Open Sauce Bold"/>
                <a:ea typeface="Open Sauce Bold"/>
                <a:cs typeface="Open Sauce Bold"/>
                <a:sym typeface="Open Sauce Bold"/>
                <a:hlinkClick r:id="rId7" tooltip="https://www.gob.pe/institucion/igp/noticias/667110-columna-de-opinion-igp-geometria-de-la-placa-de-nazca-en-peru"/>
              </a:rPr>
              <a:t>[1] Instituto Geofísico del Perú (IGP), “Geometría de la placa de Nazca en Perú,” Plataforma del Estado Peruano, 6 nov. 2022.</a:t>
            </a:r>
          </a:p>
          <a:p>
            <a:pPr algn="l">
              <a:lnSpc>
                <a:spcPts val="2504"/>
              </a:lnSpc>
            </a:pPr>
          </a:p>
          <a:p>
            <a:pPr algn="l">
              <a:lnSpc>
                <a:spcPts val="2504"/>
              </a:lnSpc>
            </a:pPr>
            <a:r>
              <a:rPr lang="en-US" sz="1788" spc="89" b="true">
                <a:solidFill>
                  <a:srgbClr val="1F3864"/>
                </a:solidFill>
                <a:latin typeface="Open Sauce Bold"/>
                <a:ea typeface="Open Sauce Bold"/>
                <a:cs typeface="Open Sauce Bold"/>
                <a:sym typeface="Open Sauce Bold"/>
              </a:rPr>
              <a:t> [2] A. Espinoza and R. Fort, “Cuantificación y caracterización de la autoconstrucción en el Perú,” Grupo de Análisis para el Desarrollo (GRADE) / Asociación de Desarrolladores Inmobiliarios (ADI Perú), 2023. [En línea]. Disponible: </a:t>
            </a:r>
            <a:r>
              <a:rPr lang="en-US" b="true" sz="1788" spc="89" u="sng">
                <a:solidFill>
                  <a:srgbClr val="1F3864"/>
                </a:solidFill>
                <a:latin typeface="Open Sauce Bold"/>
                <a:ea typeface="Open Sauce Bold"/>
                <a:cs typeface="Open Sauce Bold"/>
                <a:sym typeface="Open Sauce Bold"/>
                <a:hlinkClick r:id="rId8" tooltip="https://www.grade.org.pe/wp-content/uploads/GRADEADI_AUTOCONSTRUCCION.pdf"/>
              </a:rPr>
              <a:t>Meta 11.5 Contribuir a la reducción de los efectos de los desastres mediante la identificación y priorización de viviendas que podrían requerir una inspección técnica.</a:t>
            </a:r>
          </a:p>
          <a:p>
            <a:pPr algn="l">
              <a:lnSpc>
                <a:spcPts val="2504"/>
              </a:lnSpc>
            </a:pPr>
          </a:p>
          <a:p>
            <a:pPr algn="l">
              <a:lnSpc>
                <a:spcPts val="2504"/>
              </a:lnSpc>
            </a:pPr>
            <a:r>
              <a:rPr lang="en-US" b="true" sz="1788" spc="89" u="sng">
                <a:solidFill>
                  <a:srgbClr val="1F3864"/>
                </a:solidFill>
                <a:latin typeface="Open Sauce Bold"/>
                <a:ea typeface="Open Sauce Bold"/>
                <a:cs typeface="Open Sauce Bold"/>
                <a:sym typeface="Open Sauce Bold"/>
              </a:rPr>
              <a:t>[3] Federal Highway Administration, “Distresses for continuously reinforced concrete pavements,” in Distress Identification Manual for the Long-Term Pavement Performance Program, 5th ed., Washington, DC, USA, May 2014, Rep. FHWA-HRT-13-092.</a:t>
            </a:r>
          </a:p>
          <a:p>
            <a:pPr algn="l">
              <a:lnSpc>
                <a:spcPts val="2504"/>
              </a:lnSpc>
            </a:pPr>
          </a:p>
          <a:p>
            <a:pPr algn="l">
              <a:lnSpc>
                <a:spcPts val="2504"/>
              </a:lnSpc>
            </a:pPr>
            <a:r>
              <a:rPr lang="en-US" b="true" sz="1788" spc="89" u="sng">
                <a:solidFill>
                  <a:srgbClr val="1F3864"/>
                </a:solidFill>
                <a:latin typeface="Open Sauce Bold"/>
                <a:ea typeface="Open Sauce Bold"/>
                <a:cs typeface="Open Sauce Bold"/>
                <a:sym typeface="Open Sauce Bold"/>
              </a:rPr>
              <a:t>[4] Centro Nacional de Estimación, Prevención y Reducción del Riesgo de Desastres, SIGRID – Sistema de Información para la Gestión del Riesgo de Desastres, Lima, Perú.</a:t>
            </a:r>
          </a:p>
          <a:p>
            <a:pPr algn="l">
              <a:lnSpc>
                <a:spcPts val="2504"/>
              </a:lnSpc>
            </a:pPr>
          </a:p>
          <a:p>
            <a:pPr algn="l">
              <a:lnSpc>
                <a:spcPts val="2504"/>
              </a:lnSpc>
            </a:pPr>
            <a:r>
              <a:rPr lang="en-US" b="true" sz="1788" spc="89" u="sng">
                <a:solidFill>
                  <a:srgbClr val="1F3864"/>
                </a:solidFill>
                <a:latin typeface="Open Sauce Bold"/>
                <a:ea typeface="Open Sauce Bold"/>
                <a:cs typeface="Open Sauce Bold"/>
                <a:sym typeface="Open Sauce Bold"/>
              </a:rPr>
              <a:t>[5] M. A.-M. Khan, S.-H. Kee, A.-S. K. Pathan, and A.-A. Nahid, “Image processing techniques for concrete crack detection: A scientometrics literature review,” Remote Sensing, vol. 15, no. 9, p. 2400, 2023. [En línea]. Disponible en:</a:t>
            </a:r>
          </a:p>
          <a:p>
            <a:pPr algn="l">
              <a:lnSpc>
                <a:spcPts val="2504"/>
              </a:lnSpc>
            </a:pPr>
            <a:r>
              <a:rPr lang="en-US" b="true" sz="1788" spc="89" u="sng">
                <a:solidFill>
                  <a:srgbClr val="1F3864"/>
                </a:solidFill>
                <a:latin typeface="Open Sauce Bold"/>
                <a:ea typeface="Open Sauce Bold"/>
                <a:cs typeface="Open Sauce Bold"/>
                <a:sym typeface="Open Sauce Bold"/>
                <a:hlinkClick r:id="rId9" tooltip="https://doi.org/10.3390/rs15092400"/>
              </a:rPr>
              <a:t>https://doi.org/10.3390/rs15092400</a:t>
            </a:r>
          </a:p>
          <a:p>
            <a:pPr algn="l">
              <a:lnSpc>
                <a:spcPts val="2504"/>
              </a:lnSpc>
            </a:pPr>
          </a:p>
          <a:p>
            <a:pPr algn="l">
              <a:lnSpc>
                <a:spcPts val="2504"/>
              </a:lnSpc>
            </a:pPr>
            <a:r>
              <a:rPr lang="en-US" b="true" sz="1788" spc="89" u="sng">
                <a:solidFill>
                  <a:srgbClr val="1F3864"/>
                </a:solidFill>
                <a:latin typeface="Open Sauce Bold"/>
                <a:ea typeface="Open Sauce Bold"/>
                <a:cs typeface="Open Sauce Bold"/>
                <a:sym typeface="Open Sauce Bold"/>
              </a:rPr>
              <a:t>[6] International Organization for Standardization, “ISO 12100:2010. Safety of machinery — General principles for design — Risk assessment and risk reduction,” ISO, 2010. [En línea]. Disponible en:</a:t>
            </a:r>
          </a:p>
          <a:p>
            <a:pPr algn="l">
              <a:lnSpc>
                <a:spcPts val="2504"/>
              </a:lnSpc>
            </a:pPr>
            <a:r>
              <a:rPr lang="en-US" b="true" sz="1788" spc="89" u="sng">
                <a:solidFill>
                  <a:srgbClr val="1F3864"/>
                </a:solidFill>
                <a:latin typeface="Open Sauce Bold"/>
                <a:ea typeface="Open Sauce Bold"/>
                <a:cs typeface="Open Sauce Bold"/>
                <a:sym typeface="Open Sauce Bold"/>
                <a:hlinkClick r:id="rId10" tooltip="https://www.normsplash.com/Samples/ISO/186791471/ISO-12100-2010-en.pdf"/>
              </a:rPr>
              <a:t>https://www.normsplash.com/Samples/ISO/186791471/ISO-12100-2010-en.pdf</a:t>
            </a:r>
          </a:p>
          <a:p>
            <a:pPr algn="l">
              <a:lnSpc>
                <a:spcPts val="2504"/>
              </a:lnSpc>
            </a:pPr>
          </a:p>
          <a:p>
            <a:pPr algn="l">
              <a:lnSpc>
                <a:spcPts val="2504"/>
              </a:lnSpc>
            </a:pPr>
          </a:p>
          <a:p>
            <a:pPr algn="l">
              <a:lnSpc>
                <a:spcPts val="2504"/>
              </a:lnSpc>
            </a:pPr>
          </a:p>
          <a:p>
            <a:pPr algn="l">
              <a:lnSpc>
                <a:spcPts val="2504"/>
              </a:lnSpc>
            </a:pPr>
          </a:p>
          <a:p>
            <a:pPr algn="l">
              <a:lnSpc>
                <a:spcPts val="2504"/>
              </a:lnSpc>
            </a:pPr>
            <a:r>
              <a:rPr lang="en-US" sz="1788" spc="89" b="true">
                <a:solidFill>
                  <a:srgbClr val="1F3864"/>
                </a:solidFill>
                <a:latin typeface="Open Sauce Bold"/>
                <a:ea typeface="Open Sauce Bold"/>
                <a:cs typeface="Open Sauce Bold"/>
                <a:sym typeface="Open Sauce Bold"/>
              </a:rPr>
              <a:t> </a:t>
            </a:r>
          </a:p>
          <a:p>
            <a:pPr algn="l">
              <a:lnSpc>
                <a:spcPts val="2504"/>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3606" y="0"/>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F3864"/>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27773" y="4163622"/>
            <a:ext cx="110236" cy="2818996"/>
            <a:chOff x="0" y="0"/>
            <a:chExt cx="26312" cy="672855"/>
          </a:xfrm>
        </p:grpSpPr>
        <p:sp>
          <p:nvSpPr>
            <p:cNvPr name="Freeform 9" id="9"/>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0" id="10"/>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2857101" y="-2238638"/>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3518407" y="85410"/>
            <a:ext cx="3710844" cy="2514286"/>
          </a:xfrm>
          <a:custGeom>
            <a:avLst/>
            <a:gdLst/>
            <a:ahLst/>
            <a:cxnLst/>
            <a:rect r="r" b="b" t="t" l="l"/>
            <a:pathLst>
              <a:path h="2514286" w="3710844">
                <a:moveTo>
                  <a:pt x="0" y="0"/>
                </a:moveTo>
                <a:lnTo>
                  <a:pt x="3710844" y="0"/>
                </a:lnTo>
                <a:lnTo>
                  <a:pt x="3710844" y="2514285"/>
                </a:lnTo>
                <a:lnTo>
                  <a:pt x="0" y="2514285"/>
                </a:lnTo>
                <a:lnTo>
                  <a:pt x="0" y="0"/>
                </a:lnTo>
                <a:close/>
              </a:path>
            </a:pathLst>
          </a:custGeom>
          <a:blipFill>
            <a:blip r:embed="rId6"/>
            <a:stretch>
              <a:fillRect l="0" t="0" r="0" b="0"/>
            </a:stretch>
          </a:blipFill>
        </p:spPr>
      </p:sp>
      <p:sp>
        <p:nvSpPr>
          <p:cNvPr name="TextBox 14" id="14"/>
          <p:cNvSpPr txBox="true"/>
          <p:nvPr/>
        </p:nvSpPr>
        <p:spPr>
          <a:xfrm rot="0">
            <a:off x="1543050" y="198118"/>
            <a:ext cx="7574480" cy="830582"/>
          </a:xfrm>
          <a:prstGeom prst="rect">
            <a:avLst/>
          </a:prstGeom>
        </p:spPr>
        <p:txBody>
          <a:bodyPr anchor="t" rtlCol="false" tIns="0" lIns="0" bIns="0" rIns="0">
            <a:spAutoFit/>
          </a:bodyPr>
          <a:lstStyle/>
          <a:p>
            <a:pPr algn="ctr">
              <a:lnSpc>
                <a:spcPts val="6858"/>
              </a:lnSpc>
            </a:pPr>
            <a:r>
              <a:rPr lang="en-US" b="true" sz="4969" spc="487">
                <a:solidFill>
                  <a:srgbClr val="010101"/>
                </a:solidFill>
                <a:latin typeface="Montserrat Bold"/>
                <a:ea typeface="Montserrat Bold"/>
                <a:cs typeface="Montserrat Bold"/>
                <a:sym typeface="Montserrat Bold"/>
              </a:rPr>
              <a:t>REFERENCIAS</a:t>
            </a:r>
          </a:p>
        </p:txBody>
      </p:sp>
      <p:sp>
        <p:nvSpPr>
          <p:cNvPr name="TextBox 15" id="15"/>
          <p:cNvSpPr txBox="true"/>
          <p:nvPr/>
        </p:nvSpPr>
        <p:spPr>
          <a:xfrm rot="0">
            <a:off x="1737741" y="1530447"/>
            <a:ext cx="13024917" cy="3450244"/>
          </a:xfrm>
          <a:prstGeom prst="rect">
            <a:avLst/>
          </a:prstGeom>
        </p:spPr>
        <p:txBody>
          <a:bodyPr anchor="t" rtlCol="false" tIns="0" lIns="0" bIns="0" rIns="0">
            <a:spAutoFit/>
          </a:bodyPr>
          <a:lstStyle/>
          <a:p>
            <a:pPr algn="l">
              <a:lnSpc>
                <a:spcPts val="2504"/>
              </a:lnSpc>
            </a:pPr>
            <a:r>
              <a:rPr lang="en-US" b="true" sz="1788" spc="89" u="sng">
                <a:solidFill>
                  <a:srgbClr val="1F3864"/>
                </a:solidFill>
                <a:latin typeface="Open Sauce Bold"/>
                <a:ea typeface="Open Sauce Bold"/>
                <a:cs typeface="Open Sauce Bold"/>
                <a:sym typeface="Open Sauce Bold"/>
              </a:rPr>
              <a:t>[7] International Organization for Standardization, “ISO 7250-1:2017. Basic human body measurements for technological design — Part 1: Body measurement definitions and landmarks,” ISO, 2017. [En línea]. Disponible en:</a:t>
            </a:r>
          </a:p>
          <a:p>
            <a:pPr algn="l">
              <a:lnSpc>
                <a:spcPts val="2504"/>
              </a:lnSpc>
            </a:pPr>
            <a:r>
              <a:rPr lang="en-US" b="true" sz="1788" spc="89" u="sng">
                <a:solidFill>
                  <a:srgbClr val="1F3864"/>
                </a:solidFill>
                <a:latin typeface="Open Sauce Bold"/>
                <a:ea typeface="Open Sauce Bold"/>
                <a:cs typeface="Open Sauce Bold"/>
                <a:sym typeface="Open Sauce Bold"/>
                <a:hlinkClick r:id="rId7" tooltip="https://www.iso.org/standard/65246.html"/>
              </a:rPr>
              <a:t>https://www.iso.org/standard/65246.html</a:t>
            </a:r>
          </a:p>
          <a:p>
            <a:pPr algn="l">
              <a:lnSpc>
                <a:spcPts val="2504"/>
              </a:lnSpc>
            </a:pPr>
          </a:p>
          <a:p>
            <a:pPr algn="l">
              <a:lnSpc>
                <a:spcPts val="2504"/>
              </a:lnSpc>
            </a:pPr>
            <a:r>
              <a:rPr lang="en-US" b="true" sz="1788" spc="89" u="sng">
                <a:solidFill>
                  <a:srgbClr val="1F3864"/>
                </a:solidFill>
                <a:latin typeface="Open Sauce Bold"/>
                <a:ea typeface="Open Sauce Bold"/>
                <a:cs typeface="Open Sauce Bold"/>
                <a:sym typeface="Open Sauce Bold"/>
              </a:rPr>
              <a:t>[8] Congreso de la República del Perú, “Ley N.° 29783, Ley de Seguridad y Salud en el Trabajo,” 2011. [En línea]. Disponible en:</a:t>
            </a:r>
          </a:p>
          <a:p>
            <a:pPr algn="l">
              <a:lnSpc>
                <a:spcPts val="2504"/>
              </a:lnSpc>
            </a:pPr>
            <a:r>
              <a:rPr lang="en-US" b="true" sz="1788" spc="89" u="sng">
                <a:solidFill>
                  <a:srgbClr val="1F3864"/>
                </a:solidFill>
                <a:latin typeface="Open Sauce Bold"/>
                <a:ea typeface="Open Sauce Bold"/>
                <a:cs typeface="Open Sauce Bold"/>
                <a:sym typeface="Open Sauce Bold"/>
                <a:hlinkClick r:id="rId8" tooltip="https://cdn.www.gob.pe/uploads/document/file/571762/Ley_N__29783.pdf"/>
              </a:rPr>
              <a:t>https://cdn.www.gob.pe/uploads/document/file/571762/Ley_N__29783.pdf</a:t>
            </a:r>
          </a:p>
          <a:p>
            <a:pPr algn="l">
              <a:lnSpc>
                <a:spcPts val="2504"/>
              </a:lnSpc>
            </a:pPr>
          </a:p>
          <a:p>
            <a:pPr algn="l">
              <a:lnSpc>
                <a:spcPts val="2504"/>
              </a:lnSpc>
            </a:pPr>
            <a:r>
              <a:rPr lang="en-US" sz="1788" spc="89" b="true">
                <a:solidFill>
                  <a:srgbClr val="1F3864"/>
                </a:solidFill>
                <a:latin typeface="Open Sauce Bold"/>
                <a:ea typeface="Open Sauce Bold"/>
                <a:cs typeface="Open Sauce Bold"/>
                <a:sym typeface="Open Sauce Bold"/>
              </a:rPr>
              <a:t> </a:t>
            </a:r>
          </a:p>
          <a:p>
            <a:pPr algn="l">
              <a:lnSpc>
                <a:spcPts val="2504"/>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47335" y="3505018"/>
            <a:ext cx="10050386" cy="3414595"/>
          </a:xfrm>
          <a:prstGeom prst="rect">
            <a:avLst/>
          </a:prstGeom>
        </p:spPr>
        <p:txBody>
          <a:bodyPr anchor="t" rtlCol="false" tIns="0" lIns="0" bIns="0" rIns="0">
            <a:spAutoFit/>
          </a:bodyPr>
          <a:lstStyle/>
          <a:p>
            <a:pPr algn="l" marL="0" indent="0" lvl="0">
              <a:lnSpc>
                <a:spcPts val="13012"/>
              </a:lnSpc>
            </a:pPr>
            <a:r>
              <a:rPr lang="en-US" b="true" sz="13992" spc="1511">
                <a:solidFill>
                  <a:srgbClr val="231F20"/>
                </a:solidFill>
                <a:latin typeface="Montserrat Bold"/>
                <a:ea typeface="Montserrat Bold"/>
                <a:cs typeface="Montserrat Bold"/>
                <a:sym typeface="Montserrat Bold"/>
              </a:rPr>
              <a:t>MUCHAS GRACIAS</a:t>
            </a:r>
          </a:p>
        </p:txBody>
      </p:sp>
      <p:grpSp>
        <p:nvGrpSpPr>
          <p:cNvPr name="Group 3" id="3"/>
          <p:cNvGrpSpPr/>
          <p:nvPr/>
        </p:nvGrpSpPr>
        <p:grpSpPr>
          <a:xfrm rot="826432">
            <a:off x="-18353104" y="-3567159"/>
            <a:ext cx="21026341" cy="12831921"/>
            <a:chOff x="0" y="0"/>
            <a:chExt cx="5537802" cy="3379601"/>
          </a:xfrm>
        </p:grpSpPr>
        <p:sp>
          <p:nvSpPr>
            <p:cNvPr name="Freeform 4" id="4"/>
            <p:cNvSpPr/>
            <p:nvPr/>
          </p:nvSpPr>
          <p:spPr>
            <a:xfrm flipH="false" flipV="false" rot="0">
              <a:off x="0" y="0"/>
              <a:ext cx="5537802" cy="3379601"/>
            </a:xfrm>
            <a:custGeom>
              <a:avLst/>
              <a:gdLst/>
              <a:ahLst/>
              <a:cxnLst/>
              <a:rect r="r" b="b" t="t" l="l"/>
              <a:pathLst>
                <a:path h="3379601" w="5537802">
                  <a:moveTo>
                    <a:pt x="0" y="0"/>
                  </a:moveTo>
                  <a:lnTo>
                    <a:pt x="5537802" y="0"/>
                  </a:lnTo>
                  <a:lnTo>
                    <a:pt x="5537802" y="3379601"/>
                  </a:lnTo>
                  <a:lnTo>
                    <a:pt x="0" y="3379601"/>
                  </a:lnTo>
                  <a:close/>
                </a:path>
              </a:pathLst>
            </a:custGeom>
            <a:solidFill>
              <a:srgbClr val="1F3864"/>
            </a:solidFill>
          </p:spPr>
        </p:sp>
        <p:sp>
          <p:nvSpPr>
            <p:cNvPr name="TextBox 5" id="5"/>
            <p:cNvSpPr txBox="true"/>
            <p:nvPr/>
          </p:nvSpPr>
          <p:spPr>
            <a:xfrm>
              <a:off x="0" y="-19050"/>
              <a:ext cx="5537802" cy="3398651"/>
            </a:xfrm>
            <a:prstGeom prst="rect">
              <a:avLst/>
            </a:prstGeom>
          </p:spPr>
          <p:txBody>
            <a:bodyPr anchor="ctr" rtlCol="false" tIns="50800" lIns="50800" bIns="50800" rIns="50800"/>
            <a:lstStyle/>
            <a:p>
              <a:pPr algn="ctr">
                <a:lnSpc>
                  <a:spcPts val="2859"/>
                </a:lnSpc>
              </a:pPr>
            </a:p>
          </p:txBody>
        </p:sp>
      </p:grpSp>
      <p:grpSp>
        <p:nvGrpSpPr>
          <p:cNvPr name="Group 6" id="6"/>
          <p:cNvGrpSpPr/>
          <p:nvPr/>
        </p:nvGrpSpPr>
        <p:grpSpPr>
          <a:xfrm rot="773821">
            <a:off x="15103767" y="4820361"/>
            <a:ext cx="313833" cy="8482349"/>
            <a:chOff x="0" y="0"/>
            <a:chExt cx="82656" cy="2234034"/>
          </a:xfrm>
        </p:grpSpPr>
        <p:sp>
          <p:nvSpPr>
            <p:cNvPr name="Freeform 7" id="7"/>
            <p:cNvSpPr/>
            <p:nvPr/>
          </p:nvSpPr>
          <p:spPr>
            <a:xfrm flipH="false" flipV="false" rot="0">
              <a:off x="0" y="0"/>
              <a:ext cx="82656" cy="2234034"/>
            </a:xfrm>
            <a:custGeom>
              <a:avLst/>
              <a:gdLst/>
              <a:ahLst/>
              <a:cxnLst/>
              <a:rect r="r" b="b" t="t" l="l"/>
              <a:pathLst>
                <a:path h="2234034" w="82656">
                  <a:moveTo>
                    <a:pt x="0" y="0"/>
                  </a:moveTo>
                  <a:lnTo>
                    <a:pt x="82656" y="0"/>
                  </a:lnTo>
                  <a:lnTo>
                    <a:pt x="82656" y="2234034"/>
                  </a:lnTo>
                  <a:lnTo>
                    <a:pt x="0" y="2234034"/>
                  </a:lnTo>
                  <a:close/>
                </a:path>
              </a:pathLst>
            </a:custGeom>
            <a:solidFill>
              <a:srgbClr val="36516B"/>
            </a:solidFill>
          </p:spPr>
        </p:sp>
        <p:sp>
          <p:nvSpPr>
            <p:cNvPr name="TextBox 8" id="8"/>
            <p:cNvSpPr txBox="true"/>
            <p:nvPr/>
          </p:nvSpPr>
          <p:spPr>
            <a:xfrm>
              <a:off x="0" y="-19050"/>
              <a:ext cx="82656" cy="2253084"/>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773821">
            <a:off x="3741572" y="-4834013"/>
            <a:ext cx="313833" cy="8482349"/>
            <a:chOff x="0" y="0"/>
            <a:chExt cx="82656" cy="2234034"/>
          </a:xfrm>
        </p:grpSpPr>
        <p:sp>
          <p:nvSpPr>
            <p:cNvPr name="Freeform 10" id="10"/>
            <p:cNvSpPr/>
            <p:nvPr/>
          </p:nvSpPr>
          <p:spPr>
            <a:xfrm flipH="false" flipV="false" rot="0">
              <a:off x="0" y="0"/>
              <a:ext cx="82656" cy="2234034"/>
            </a:xfrm>
            <a:custGeom>
              <a:avLst/>
              <a:gdLst/>
              <a:ahLst/>
              <a:cxnLst/>
              <a:rect r="r" b="b" t="t" l="l"/>
              <a:pathLst>
                <a:path h="2234034" w="82656">
                  <a:moveTo>
                    <a:pt x="0" y="0"/>
                  </a:moveTo>
                  <a:lnTo>
                    <a:pt x="82656" y="0"/>
                  </a:lnTo>
                  <a:lnTo>
                    <a:pt x="82656" y="2234034"/>
                  </a:lnTo>
                  <a:lnTo>
                    <a:pt x="0" y="2234034"/>
                  </a:lnTo>
                  <a:close/>
                </a:path>
              </a:pathLst>
            </a:custGeom>
            <a:solidFill>
              <a:srgbClr val="36516B"/>
            </a:solidFill>
          </p:spPr>
        </p:sp>
        <p:sp>
          <p:nvSpPr>
            <p:cNvPr name="TextBox 11" id="11"/>
            <p:cNvSpPr txBox="true"/>
            <p:nvPr/>
          </p:nvSpPr>
          <p:spPr>
            <a:xfrm>
              <a:off x="0" y="-19050"/>
              <a:ext cx="82656" cy="2253084"/>
            </a:xfrm>
            <a:prstGeom prst="rect">
              <a:avLst/>
            </a:prstGeom>
          </p:spPr>
          <p:txBody>
            <a:bodyPr anchor="ctr" rtlCol="false" tIns="50800" lIns="50800" bIns="50800" rIns="50800"/>
            <a:lstStyle/>
            <a:p>
              <a:pPr algn="ctr">
                <a:lnSpc>
                  <a:spcPts val="2859"/>
                </a:lnSpc>
              </a:pPr>
            </a:p>
          </p:txBody>
        </p:sp>
      </p:grpSp>
      <p:sp>
        <p:nvSpPr>
          <p:cNvPr name="Freeform 12" id="12"/>
          <p:cNvSpPr/>
          <p:nvPr/>
        </p:nvSpPr>
        <p:spPr>
          <a:xfrm flipH="false" flipV="false" rot="0">
            <a:off x="-2857101" y="-2238638"/>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76656" y="8684282"/>
            <a:ext cx="4084874" cy="4114800"/>
          </a:xfrm>
          <a:custGeom>
            <a:avLst/>
            <a:gdLst/>
            <a:ahLst/>
            <a:cxnLst/>
            <a:rect r="r" b="b" t="t" l="l"/>
            <a:pathLst>
              <a:path h="4114800" w="4084874">
                <a:moveTo>
                  <a:pt x="0" y="0"/>
                </a:moveTo>
                <a:lnTo>
                  <a:pt x="4084875" y="0"/>
                </a:lnTo>
                <a:lnTo>
                  <a:pt x="40848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DAHXKUkJ1Is</dc:identifier>
  <dcterms:modified xsi:type="dcterms:W3CDTF">2011-08-01T06:04:30Z</dcterms:modified>
  <cp:revision>1</cp:revision>
  <dc:title>Presentacion resumen de proyecto de la empresa corporativo profesional verde</dc:title>
</cp:coreProperties>
</file>